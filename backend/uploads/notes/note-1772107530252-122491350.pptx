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47" r:id="rId1"/>
  </p:sldMasterIdLst>
  <p:notesMasterIdLst>
    <p:notesMasterId r:id="rId29"/>
  </p:notesMasterIdLst>
  <p:handoutMasterIdLst>
    <p:handoutMasterId r:id="rId30"/>
  </p:handoutMasterIdLst>
  <p:sldIdLst>
    <p:sldId id="256" r:id="rId2"/>
    <p:sldId id="313" r:id="rId3"/>
    <p:sldId id="337" r:id="rId4"/>
    <p:sldId id="258" r:id="rId5"/>
    <p:sldId id="301" r:id="rId6"/>
    <p:sldId id="309" r:id="rId7"/>
    <p:sldId id="302" r:id="rId8"/>
    <p:sldId id="319" r:id="rId9"/>
    <p:sldId id="320" r:id="rId10"/>
    <p:sldId id="321" r:id="rId11"/>
    <p:sldId id="322" r:id="rId12"/>
    <p:sldId id="323" r:id="rId13"/>
    <p:sldId id="324" r:id="rId14"/>
    <p:sldId id="325" r:id="rId15"/>
    <p:sldId id="326" r:id="rId16"/>
    <p:sldId id="303" r:id="rId17"/>
    <p:sldId id="327" r:id="rId18"/>
    <p:sldId id="328" r:id="rId19"/>
    <p:sldId id="329" r:id="rId20"/>
    <p:sldId id="330" r:id="rId21"/>
    <p:sldId id="331" r:id="rId22"/>
    <p:sldId id="332" r:id="rId23"/>
    <p:sldId id="333" r:id="rId24"/>
    <p:sldId id="334" r:id="rId25"/>
    <p:sldId id="335" r:id="rId26"/>
    <p:sldId id="336" r:id="rId27"/>
    <p:sldId id="31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291"/>
    <a:srgbClr val="10A6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133" autoAdjust="0"/>
  </p:normalViewPr>
  <p:slideViewPr>
    <p:cSldViewPr snapToGrid="0">
      <p:cViewPr varScale="1">
        <p:scale>
          <a:sx n="71" d="100"/>
          <a:sy n="71" d="100"/>
        </p:scale>
        <p:origin x="57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1/14/2026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22802606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116402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2664114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Entrepreneurship plays an important role in the creation and growth of businesses. Entrepreneurial actions begin when a lucrative opportunity meets an enterprising individual. Almost evryone has an idea on a business venture or how to run a business. It is not uncommon for a friend, colleague, relative or acquaintance to mention how this or that person is wasting an opportunity in their business or how they have an idea but lack capital. Nevertheless, the idiom ‘talk is cheap’ reigns supreme when it comes to actualization. As captured in the Lesson Quote above, it takes more than words. </a:t>
            </a:r>
          </a:p>
          <a:p>
            <a:r>
              <a:rPr lang="en-US"/>
              <a:t>This lesson debunks the entrepreneur and entrepreneurship - it is simple yet takes hard work, and more. 	</a:t>
            </a:r>
          </a:p>
        </p:txBody>
      </p:sp>
    </p:spTree>
    <p:extLst>
      <p:ext uri="{BB962C8B-B14F-4D97-AF65-F5344CB8AC3E}">
        <p14:creationId xmlns:p14="http://schemas.microsoft.com/office/powerpoint/2010/main" val="390196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Around the world, millions of people are realizing their dream of owning and operating their own businesses.</a:t>
            </a:r>
          </a:p>
          <a:p>
            <a:r>
              <a:rPr lang="en-US"/>
              <a:t>Entrepreneurial Profile</a:t>
            </a:r>
          </a:p>
          <a:p>
            <a:r>
              <a:rPr lang="en-US"/>
              <a:t>Eric Muthomi: Stawi Foods and Fruits</a:t>
            </a:r>
          </a:p>
          <a:p>
            <a:r>
              <a:rPr lang="en-US"/>
              <a:t>Eric Muthomi grew up in Meru, Kenya, and studied law at the Catholic University of East Africa. While Muthomi was earning his law degree, his goal was to start his own business. After graduating in 2010, Muthomi, just 26 years old, launched Stawi Foods and Fruits, a company that makes a unique banana flour that is used for baking, making baby food, and preparing ugali, a staple dish in Kenya. Muthomi, who also studied entrepreneurship and banana processing, says that coming up with his business idea was simple because his hometown of Meru is a center for banana growers and processors. Stawi Foods and Fruits benefited from the publicity and recognition that came after Muthomi won Jitihada, Kenya’s national business plan competition, beating out 3,439 other business ideas. Getting into business in Kenya was not easy, however; Muthomi says getting necessary permits and licenses for a food business from various government entities is time-consuming and “tiresome.” Despite facing challenges, Stawi Foods and Fruits, which employs five people, reached its break-even point in less than one year, and Muthomi is reinvesting profits into the company to fuel its growth. The determined entrepreneur already has his sights set on exporting his company’s banana flour to other African nations and eventually other continents. When asked what advice he could offer to other aspiring entrepreneurs, Muthomi recommends that they should not wait for conditions to be perfect before they launch their businesses; instead, they should start with whatever resources they have and grow from there.</a:t>
            </a:r>
          </a:p>
        </p:txBody>
      </p:sp>
    </p:spTree>
    <p:extLst>
      <p:ext uri="{BB962C8B-B14F-4D97-AF65-F5344CB8AC3E}">
        <p14:creationId xmlns:p14="http://schemas.microsoft.com/office/powerpoint/2010/main" val="1665939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1B2AA4F-B828-4D7C-AFD3-893933DAFCB4}" type="slidenum">
              <a:rPr lang="en-US" smtClean="0"/>
              <a:t>6</a:t>
            </a:fld>
            <a:endParaRPr lang="en-US"/>
          </a:p>
        </p:txBody>
      </p:sp>
    </p:spTree>
    <p:extLst>
      <p:ext uri="{BB962C8B-B14F-4D97-AF65-F5344CB8AC3E}">
        <p14:creationId xmlns:p14="http://schemas.microsoft.com/office/powerpoint/2010/main" val="3392955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855946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Entrepreneurship plays an important role in the creation and growth of businesses. Entrepreneurial actions begin when a lucrative opportunity meets an enterprising individual. Almost evryone has an idea on a business venture or how to run a business. It is not uncommon for a friend, colleague, relative or acquaintance to mention how this or that person is wasting an opportunity in their business or how they have an idea but lack capital. Nevertheless, the idiom ‘talk is cheap’ reigns supreme when it comes to actualization. As captured in the Lesson Quote above, it takes more than words. </a:t>
            </a:r>
          </a:p>
          <a:p>
            <a:r>
              <a:rPr lang="en-US"/>
              <a:t>This lesson debunks the entrepreneur and entrepreneurship - it is simple yet takes hard work, and more. 	</a:t>
            </a:r>
          </a:p>
        </p:txBody>
      </p:sp>
    </p:spTree>
    <p:extLst>
      <p:ext uri="{BB962C8B-B14F-4D97-AF65-F5344CB8AC3E}">
        <p14:creationId xmlns:p14="http://schemas.microsoft.com/office/powerpoint/2010/main" val="3077145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The concept of entrepreneurship has been in our modern society for thousands of years and in the history of economic study the word has been overused, and in some cases underused.</a:t>
            </a:r>
          </a:p>
          <a:p>
            <a:r>
              <a:rPr lang="en-US"/>
              <a:t>As earlier defined, an entrepreneur is one who organizes a new venture, manages it, and assumes the associated risk. The term entrepreneur is broadly defined to include business owners, innovators, and executives in need of capital to start a new project, introducing a new product, or expanding a promising line of business. </a:t>
            </a:r>
          </a:p>
          <a:p>
            <a:r>
              <a:rPr lang="en-US"/>
              <a:t>1.1 Entrepreneurship and Trade</a:t>
            </a:r>
          </a:p>
          <a:p>
            <a:r>
              <a:rPr lang="en-US"/>
              <a:t>The first entrepreneurs can be traced back to nearly 20,000 years ago. The first known trading between humans took place in New Guinea around 17,000 BCE, where locals would exchange obsidian (a volcanic glass prized for its use in hunting tools) for other needed goods – like tools, skins, and food.</a:t>
            </a:r>
          </a:p>
          <a:p>
            <a:r>
              <a:rPr lang="en-US"/>
              <a:t>This early type of entrepreneurship continued for millennia. Hunter-gatherer tribes would trade goods from different parts of their respective regions to provide an overall benefit for their tribe.</a:t>
            </a:r>
          </a:p>
          <a:p>
            <a:r>
              <a:rPr lang="en-US"/>
              <a:t>1.2Entrepreneurship and the Agricultural Revolution</a:t>
            </a:r>
          </a:p>
          <a:p>
            <a:r>
              <a:rPr lang="en-US"/>
              <a:t>The first big shift in entrepreneurship took place during the Agricultural Revolution, which occurred about 12,000 years ago. This entailed humans starting to domesticate plants and animals. Therefore, food production was left to a few while others performed other tasks - specialization.</a:t>
            </a:r>
          </a:p>
          <a:p>
            <a:r>
              <a:rPr lang="en-US"/>
              <a:t>Some common areas of specialization included:</a:t>
            </a:r>
          </a:p>
          <a:p>
            <a:r>
              <a:rPr lang="en-US"/>
              <a:t>Hunting and gathering</a:t>
            </a:r>
          </a:p>
          <a:p>
            <a:r>
              <a:rPr lang="en-US"/>
              <a:t>Fishing</a:t>
            </a:r>
          </a:p>
          <a:p>
            <a:r>
              <a:rPr lang="en-US"/>
              <a:t>Cooking</a:t>
            </a:r>
          </a:p>
          <a:p>
            <a:r>
              <a:rPr lang="en-US"/>
              <a:t>Tool-making</a:t>
            </a:r>
          </a:p>
          <a:p>
            <a:r>
              <a:rPr lang="en-US"/>
              <a:t>Shelter-building</a:t>
            </a:r>
          </a:p>
          <a:p>
            <a:r>
              <a:rPr lang="en-US"/>
              <a:t>Clothes-making</a:t>
            </a:r>
          </a:p>
          <a:p>
            <a:r>
              <a:rPr lang="en-US"/>
              <a:t>With time new areas emerged such as:</a:t>
            </a:r>
          </a:p>
          <a:p>
            <a:r>
              <a:rPr lang="en-US"/>
              <a:t>Potterry </a:t>
            </a:r>
          </a:p>
          <a:p>
            <a:r>
              <a:rPr lang="en-US"/>
              <a:t>Carpentry</a:t>
            </a:r>
          </a:p>
          <a:p>
            <a:r>
              <a:rPr lang="en-US"/>
              <a:t>Masonry</a:t>
            </a:r>
          </a:p>
          <a:p>
            <a:r>
              <a:rPr lang="en-US"/>
              <a:t>When a problem arose, innovation led to entrepreneurship.</a:t>
            </a:r>
          </a:p>
          <a:p>
            <a:r>
              <a:rPr lang="en-US"/>
              <a:t>1.32000 BCE: Trade Routes</a:t>
            </a:r>
          </a:p>
          <a:p>
            <a:r>
              <a:rPr lang="en-US"/>
              <a:t>As cities sprang up around the world, entrepreneurship took an important turn. Entrepreneurs were still specializing in all of the areas listed above (pottery, carpentry, tool-making, etc.). But they began to realize that profits could be made by trading between cities and cultures.</a:t>
            </a:r>
          </a:p>
          <a:p>
            <a:r>
              <a:rPr lang="en-US"/>
              <a:t>The right international trade route could make an entrepreneur very wealthy.</a:t>
            </a:r>
          </a:p>
          <a:p>
            <a:r>
              <a:rPr lang="en-US"/>
              <a:t>Some of the popular trade routes at the time included:</a:t>
            </a:r>
          </a:p>
          <a:p>
            <a:r>
              <a:rPr lang="en-US"/>
              <a:t>Trading salt from Africa across the Roman Empire</a:t>
            </a:r>
          </a:p>
          <a:p>
            <a:r>
              <a:rPr lang="en-US"/>
              <a:t>Trading technologies like Chinese paper-making around the world</a:t>
            </a:r>
          </a:p>
          <a:p>
            <a:r>
              <a:rPr lang="en-US"/>
              <a:t>Trading rice from China across Asia</a:t>
            </a:r>
          </a:p>
          <a:p>
            <a:r>
              <a:rPr lang="en-US"/>
              <a:t>Trading coffee, lemons, and oranges from Arabia into Europe</a:t>
            </a:r>
          </a:p>
          <a:p>
            <a:r>
              <a:rPr lang="en-US"/>
              <a:t>Trading complex ideas like the Arabic number system into Europe (this occurred in the year 1200 thanks to an Italian trader named Leonardo Fibonacci). </a:t>
            </a:r>
          </a:p>
          <a:p>
            <a:r>
              <a:rPr lang="en-US"/>
              <a:t>Trading gunpowder (a combination of carbon, sulphur, and potassium nitrate) from China to other parts of the world</a:t>
            </a:r>
          </a:p>
          <a:p>
            <a:r>
              <a:rPr lang="en-US"/>
              <a:t>Entrepreneurs that were able to trade military goods that created empires were justifiably rewarded for their work. Thus, some of the most successful early entrepreneurs traded the means of warfare around the world.</a:t>
            </a:r>
          </a:p>
          <a:p>
            <a:r>
              <a:rPr lang="en-US"/>
              <a:t>1.4Innovation of Money</a:t>
            </a:r>
          </a:p>
          <a:p>
            <a:r>
              <a:rPr lang="en-US"/>
              <a:t>Prior to the invention of money, all entrepreneurship and trade took place through the barter system.</a:t>
            </a:r>
          </a:p>
          <a:p>
            <a:r>
              <a:rPr lang="en-US"/>
              <a:t>The limits of the barter system were known as a “coincidence of wants” - it is difficult to find someone with what you need while he also needs what you have.</a:t>
            </a:r>
          </a:p>
          <a:p>
            <a:r>
              <a:rPr lang="en-US"/>
              <a:t>Starting in 2000 BCE, early forms of money have been discovered. These forms of money were called specie and changed widely throughout the world: some cultures used seashells, for example, while others used tobacco leaves, beads, or large round rocks.</a:t>
            </a:r>
          </a:p>
          <a:p>
            <a:r>
              <a:rPr lang="en-US"/>
              <a:t>IMPORTANCE OF Currency includes:</a:t>
            </a:r>
          </a:p>
          <a:p>
            <a:r>
              <a:rPr lang="en-US"/>
              <a:t>i.It facilitated long-distance trade</a:t>
            </a:r>
          </a:p>
          <a:p>
            <a:r>
              <a:rPr lang="en-US"/>
              <a:t>ii.It acted as a medium of exchange </a:t>
            </a:r>
          </a:p>
          <a:p>
            <a:r>
              <a:rPr lang="en-US"/>
              <a:t>iii.It provided a  store value</a:t>
            </a:r>
          </a:p>
        </p:txBody>
      </p:sp>
    </p:spTree>
    <p:extLst>
      <p:ext uri="{BB962C8B-B14F-4D97-AF65-F5344CB8AC3E}">
        <p14:creationId xmlns:p14="http://schemas.microsoft.com/office/powerpoint/2010/main" val="530563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1.4Innovation of Money</a:t>
            </a:r>
          </a:p>
          <a:p>
            <a:r>
              <a:rPr lang="en-US"/>
              <a:t>Prior to the invention of money, all entrepreneurship and trade took place through the barter system.</a:t>
            </a:r>
          </a:p>
          <a:p>
            <a:r>
              <a:rPr lang="en-US"/>
              <a:t>The limits of the barter system were known as a “coincidence of wants” - it is difficult to find someone with what you need while he also needs what you have.</a:t>
            </a:r>
          </a:p>
          <a:p>
            <a:r>
              <a:rPr lang="en-US"/>
              <a:t>Starting in 2000 BCE, early forms of money have been discovered. These forms of money were called specie and changed widely throughout the world: some cultures used seashells, for example, while others used tobacco leaves, beads, or large round rocks.</a:t>
            </a:r>
          </a:p>
          <a:p>
            <a:r>
              <a:rPr lang="en-US"/>
              <a:t>IMPORTANCE OF Currency includes:</a:t>
            </a:r>
          </a:p>
          <a:p>
            <a:r>
              <a:rPr lang="en-US"/>
              <a:t>i.It facilitated long-distance trade</a:t>
            </a:r>
          </a:p>
          <a:p>
            <a:r>
              <a:rPr lang="en-US"/>
              <a:t>ii.It acted as a medium of exchange </a:t>
            </a:r>
          </a:p>
          <a:p>
            <a:r>
              <a:rPr lang="en-US"/>
              <a:t>iii.It provided a  store value</a:t>
            </a:r>
          </a:p>
          <a:p>
            <a:r>
              <a:rPr lang="en-US"/>
              <a:t>1.5Medieval Period: Market Place</a:t>
            </a:r>
          </a:p>
          <a:p>
            <a:r>
              <a:rPr lang="en-US"/>
              <a:t>In the 5th to 15th century, markets became more and more popular. Larger populations required larger marketplaces where they could purchase food, clothing, services, and other important things.</a:t>
            </a:r>
          </a:p>
          <a:p>
            <a:r>
              <a:rPr lang="en-US"/>
              <a:t>Significant developments at this time included:</a:t>
            </a:r>
          </a:p>
          <a:p>
            <a:r>
              <a:rPr lang="en-US"/>
              <a:t>i.Banking - increased financing needs</a:t>
            </a:r>
          </a:p>
          <a:p>
            <a:r>
              <a:rPr lang="en-US"/>
              <a:t>ii.Guild System - organization, quality and reputations</a:t>
            </a:r>
          </a:p>
          <a:p>
            <a:r>
              <a:rPr lang="en-US"/>
              <a:t>iii.Purchase of materials from abroad then process into finished products for sale at higher profits</a:t>
            </a:r>
          </a:p>
          <a:p>
            <a:r>
              <a:rPr lang="en-US"/>
              <a:t>1.6Mercantilism: 1550 - 1800</a:t>
            </a:r>
          </a:p>
          <a:p>
            <a:r>
              <a:rPr lang="en-US"/>
              <a:t>A country’s wealth and value was solely based on how much treasure and gold it could obtain, and how many more exports it could sell compared to imports.</a:t>
            </a:r>
          </a:p>
          <a:p>
            <a:r>
              <a:rPr lang="en-US"/>
              <a:t>Columbus’s “discovery” of the New World in 1492 would permanently change entrepreneurship. </a:t>
            </a:r>
          </a:p>
          <a:p>
            <a:r>
              <a:rPr lang="en-US"/>
              <a:t>Some of the key advances included silver and gold imports that expanded trade across the Atlantic Ocean. </a:t>
            </a:r>
          </a:p>
          <a:p>
            <a:r>
              <a:rPr lang="en-US"/>
              <a:t>Furthermore Luca Pacioli  created standardized principles for keeping track of a firm’s accounts that would be used by the era’s explorers and merchants.</a:t>
            </a:r>
          </a:p>
        </p:txBody>
      </p:sp>
    </p:spTree>
    <p:extLst>
      <p:ext uri="{BB962C8B-B14F-4D97-AF65-F5344CB8AC3E}">
        <p14:creationId xmlns:p14="http://schemas.microsoft.com/office/powerpoint/2010/main" val="3184694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1.7Machines and Markets: 1800 onwards</a:t>
            </a:r>
          </a:p>
          <a:p>
            <a:r>
              <a:rPr lang="en-US"/>
              <a:t>Capitalism became more entrenched. The theories of capitalism were solidified by Adam Smith who destroyed mercantilism. </a:t>
            </a:r>
          </a:p>
          <a:p>
            <a:r>
              <a:rPr lang="en-US"/>
              <a:t>He argued that self-interested was the driving force in societies around the world. Therefore competition of the marketplace regulates self-interest and leads to a type of entrepreneurship that fuels innovation, improves the standard of living, and increases the wealth of nations.</a:t>
            </a:r>
          </a:p>
          <a:p>
            <a:r>
              <a:rPr lang="en-US"/>
              <a:t>1.8Industrial Age: From 18th Century</a:t>
            </a:r>
          </a:p>
          <a:p>
            <a:r>
              <a:rPr lang="en-US"/>
              <a:t>Entrepreneurship moved from small-scale production in small towns to large-scale production in big cities.</a:t>
            </a:r>
          </a:p>
          <a:p>
            <a:r>
              <a:rPr lang="en-US"/>
              <a:t>Important factors were:</a:t>
            </a:r>
          </a:p>
          <a:p>
            <a:r>
              <a:rPr lang="en-US"/>
              <a:t>i.Availability of energy - electricity, steam and the engine</a:t>
            </a:r>
          </a:p>
          <a:p>
            <a:r>
              <a:rPr lang="en-US"/>
              <a:t>ii.Availability of Labor - migration to industrial cities</a:t>
            </a:r>
          </a:p>
          <a:p>
            <a:endParaRPr lang="en-US"/>
          </a:p>
          <a:p>
            <a:r>
              <a:rPr lang="en-US"/>
              <a:t>Notable entrepreneurs of this period are: Andrew Carnegie, J. Morgan, John D. Rockefeller, Frank Kenan and Henry Ford.</a:t>
            </a:r>
          </a:p>
          <a:p>
            <a:r>
              <a:rPr lang="en-US"/>
              <a:t>1.9Post World War 2: 1945 onwards</a:t>
            </a:r>
          </a:p>
          <a:p>
            <a:r>
              <a:rPr lang="en-US"/>
              <a:t>This brought about the beginning of Globalization. Better means of shipping and communication made it easy for entrepreneurs to sell products and services to a global audience.</a:t>
            </a:r>
          </a:p>
          <a:p>
            <a:r>
              <a:rPr lang="en-US"/>
              <a:t>Micro-economic factors were important such as people owning cars and televisions. Companies that prospered during this period included General Electric, aircraft companies like Lockheed, IBM, etc.</a:t>
            </a:r>
          </a:p>
          <a:p>
            <a:r>
              <a:rPr lang="en-US"/>
              <a:t>1.10Modern Entrepreneurship</a:t>
            </a:r>
          </a:p>
          <a:p>
            <a:r>
              <a:rPr lang="en-US"/>
              <a:t>Today, entrepreneurs are the lifeblood of economies all over the world. Even in command economies like China, entrepreneurs are valued for their contributions to the economy and encouraged to innovate to compete with companies around the world.</a:t>
            </a:r>
          </a:p>
          <a:p>
            <a:r>
              <a:rPr lang="en-US"/>
              <a:t>The global economy – combined with modern infrastructure and communications – has introduced a new age of competition to the world of entrepreneurship. No longer are you competing with entrepreneurs in your tribe, town, village, or city: you’re competing with entrepreneurs all over the world</a:t>
            </a:r>
          </a:p>
        </p:txBody>
      </p:sp>
    </p:spTree>
    <p:extLst>
      <p:ext uri="{BB962C8B-B14F-4D97-AF65-F5344CB8AC3E}">
        <p14:creationId xmlns:p14="http://schemas.microsoft.com/office/powerpoint/2010/main" val="2560348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Theories of entrepreneurship are very essential as they help to explain what entrepreneurship entails. These include:</a:t>
            </a:r>
          </a:p>
          <a:p>
            <a:r>
              <a:rPr lang="en-US"/>
              <a:t>2.1 Economic theories of entrepreneurship </a:t>
            </a:r>
          </a:p>
          <a:p>
            <a:r>
              <a:rPr lang="en-US"/>
              <a:t>The economic theory is among the main economic theories of entrepreneurship. This theory asserts that the economy and entrepreneurship are closely linked together. Entrepreneurship and economic growth can only work when the economic conditions are favorable. As such, it is usually hard for entrepreneurs to realize growth when the economy is doing poorly. This theory further states that entrepreneurs find motivation in the presence of economic incentives which include industrial policy, policies of taxation, financial and resource sources, availability of infrastructure, investment opportunities, marketing opportunities, availability of information regarding the conditions of the market and technology among others . An entrepreneur is therefore a risk taker because he can never fully predict about the favorability of the economic conditions in future. </a:t>
            </a:r>
          </a:p>
          <a:p>
            <a:endParaRPr lang="en-US"/>
          </a:p>
          <a:p>
            <a:r>
              <a:rPr lang="en-US"/>
              <a:t>2.2 Sociological theories of entrepreneurship </a:t>
            </a:r>
          </a:p>
          <a:p>
            <a:r>
              <a:rPr lang="en-US"/>
              <a:t>It argues that the success of an entrepreneur is affected by their social culture. They are more likely to achieve growth in particular social settings. </a:t>
            </a:r>
          </a:p>
          <a:p>
            <a:r>
              <a:rPr lang="en-US"/>
              <a:t>Social spects include: the social values, customs, taboos, religious beliefs and other cultural activities. </a:t>
            </a:r>
          </a:p>
          <a:p>
            <a:r>
              <a:rPr lang="en-US"/>
              <a:t>He or she has to conform to the social expectations when carrying out their business.</a:t>
            </a:r>
          </a:p>
          <a:p>
            <a:endParaRPr lang="en-US"/>
          </a:p>
          <a:p>
            <a:r>
              <a:rPr lang="en-US"/>
              <a:t>2.3 Entrepreneurship Innovation theory </a:t>
            </a:r>
          </a:p>
          <a:p>
            <a:r>
              <a:rPr lang="en-US"/>
              <a:t>An entrepreneur does not merely conduct business to better their lives alone. Rather, through their activities, they are able to cause development in the economy and the society at large. The inventor of this theory, Joseph Schumpeter, argued that an entrepreneur grows by being creative and having a foresight. </a:t>
            </a:r>
          </a:p>
          <a:p>
            <a:r>
              <a:rPr lang="en-US"/>
              <a:t>One of the creative things that an entrepreneur does is introduce a new product. A new product often comes to solve a certain problem in the society or make it more convenient. Another innovative aspect is that in a bid to achieve growth and have more profits, an entrepreneur introduces a new production method. Notably, enhanced production methods lead to a reduction in the cost of production and an increase in the goods manufactured. Innovation also comes in when an entrepreneur opens a new market. This is often done after the identification of a growth opportunity or a void in the economy. The discovery of new sources of raw materials and establishment of organization are also aspects of entrepreneurs being innovators. These activities of an entrepreneur lead to the creation of jobs and accessibility of commodities, thus improving the economy. </a:t>
            </a:r>
          </a:p>
        </p:txBody>
      </p:sp>
    </p:spTree>
    <p:extLst>
      <p:ext uri="{BB962C8B-B14F-4D97-AF65-F5344CB8AC3E}">
        <p14:creationId xmlns:p14="http://schemas.microsoft.com/office/powerpoint/2010/main" val="3161882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2.4 Psychological theory </a:t>
            </a:r>
          </a:p>
          <a:p>
            <a:r>
              <a:rPr lang="en-US"/>
              <a:t>An entrepreneur experiences growth when the society has several individuals with the necessary psychological characteristics. </a:t>
            </a:r>
          </a:p>
          <a:p>
            <a:r>
              <a:rPr lang="en-US"/>
              <a:t>These characteristics include:  having a vision, being able to face opposition and having the need to achieve highly. A person can only possess these traits during their upbringing, when they excel, when they are self-reliant and when there is low father dominance. </a:t>
            </a:r>
          </a:p>
          <a:p>
            <a:r>
              <a:rPr lang="en-US"/>
              <a:t>2.5 Theory of high achievement/Theory of achievement motivation </a:t>
            </a:r>
          </a:p>
          <a:p>
            <a:r>
              <a:rPr lang="en-US"/>
              <a:t>Not all people are interested in being entrepreneurs. People who aim to become entrepreneurs must have a need for achievement, a need for affiliation and a need for power. These act as the basis upon which an entrepreneurial personality is established. Achievement motivation has a lot of significance in entrepreneurship because it is the one that leads to economic and social development. Entrepreneurs always want to achieve success in their endeavors. The need for power comes from the urge to gain dominance in a certain field and thus cause influence among other people. The need for affiliation comes from the urge to motive of maintain friendships with other people. </a:t>
            </a:r>
          </a:p>
          <a:p>
            <a:endParaRPr lang="en-US"/>
          </a:p>
          <a:p>
            <a:r>
              <a:rPr lang="en-US"/>
              <a:t>High achievement motivation is a sign that an individual is likely to become an entrepreneur because they are passionate about it. As such, even though they are stressed, lack money or face external pressures, they will work hard to become successful. </a:t>
            </a:r>
          </a:p>
          <a:p>
            <a:r>
              <a:rPr lang="en-US"/>
              <a:t>2.6 Resource based theories </a:t>
            </a:r>
          </a:p>
          <a:p>
            <a:r>
              <a:rPr lang="en-US"/>
              <a:t>Entrepreneurs require resources to go about their businesses. Their efforts must be combined with resources such as time, money and labor. Failure to access resources can cause their efforts to become futile. Capital, for instance, enables an entrepreneur to growth their business. Other aspects that can be considered as essential resources include access to information, education and leadership. Getting sufficient resources can be quite hectic at times and that is why entrepreneurs are considered to be people who require to work hard and smart. </a:t>
            </a:r>
          </a:p>
          <a:p>
            <a:r>
              <a:rPr lang="en-US"/>
              <a:t>2.7 Opportunity based theory </a:t>
            </a:r>
          </a:p>
          <a:p>
            <a:r>
              <a:rPr lang="en-US"/>
              <a:t>Entrepreneurs grab any opportunity they come across. These opportunities are made available through the changes in technology, society or culture. Notably, as these changes occur, consumers change their preferences. An entrepreneur must therefore take those changes as opportunities of succeeding in their businesses. Also, technology sets a basis upon which innovation is created and facilitated. Therefore, this theory suggests that entrepreneurs are always on the lookout for opportunities that will enable them increase the growth of their ventures. </a:t>
            </a:r>
          </a:p>
          <a:p>
            <a:r>
              <a:rPr lang="en-US"/>
              <a:t> </a:t>
            </a:r>
          </a:p>
          <a:p>
            <a:r>
              <a:rPr lang="en-US"/>
              <a:t>2.8 Status Withdrawal theory </a:t>
            </a:r>
          </a:p>
          <a:p>
            <a:r>
              <a:rPr lang="en-US"/>
              <a:t>This theory argues that entrepreneurial aggressiveness can be created when people of a certain class lose the prestige they initially had or when they belong to a minority group. Therefore, individuals will attempt by all means to become as prestigious as they were in the past. If they come from a minority group, they must better their lives by working hard at being entrepreneurs. Also, being a successful entrepreneur evokes respect from the society. Producing an innovative product or service that will help solve various societal concerns can make a person to be highly valued and admired by the community. As such, some people aim at achieving this admiration, fame or popularity through entrepreneurship. </a:t>
            </a:r>
          </a:p>
        </p:txBody>
      </p:sp>
    </p:spTree>
    <p:extLst>
      <p:ext uri="{BB962C8B-B14F-4D97-AF65-F5344CB8AC3E}">
        <p14:creationId xmlns:p14="http://schemas.microsoft.com/office/powerpoint/2010/main" val="2361441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There is no definite definition of an entrepreneur. This can be attributed to many factors such as geographical location, size of business, type of industry and individual bias. However, all these different definitions agree on the characteristics that set apart an entrepreneur from everyone else.</a:t>
            </a:r>
          </a:p>
          <a:p>
            <a:r>
              <a:rPr lang="en-US"/>
              <a:t>These traits include:</a:t>
            </a:r>
          </a:p>
          <a:p>
            <a:r>
              <a:rPr lang="en-US"/>
              <a:t>1.Self-confidence − Others will trust you only when you trust yourself. This is the most important trait of an entrepreneur, who should have the confidence to take one’s own decisions.</a:t>
            </a:r>
          </a:p>
          <a:p>
            <a:r>
              <a:rPr lang="en-US"/>
              <a:t>2.Risk-taking ability − Business is all about taking risks and experimenting. Entrepreneurs need to have a risk-taking ability.</a:t>
            </a:r>
          </a:p>
          <a:p>
            <a:r>
              <a:rPr lang="en-US"/>
              <a:t>3.Decision-making ability − Entrepreneurs should have the willingness and capability to take decisions in favor of the organization all the time.</a:t>
            </a:r>
          </a:p>
          <a:p>
            <a:r>
              <a:rPr lang="en-US"/>
              <a:t>4.Competitive − Entrepreneurs should always be ready to give and face competition.</a:t>
            </a:r>
          </a:p>
          <a:p>
            <a:r>
              <a:rPr lang="en-US"/>
              <a:t>5.Intelligent − Entrepreneurs always need to keep their mind active and increase their IQ and knowledge.</a:t>
            </a:r>
          </a:p>
          <a:p>
            <a:r>
              <a:rPr lang="en-US"/>
              <a:t>6.Visualization − Entrepreneurs should have the ability to see things from different point of views.</a:t>
            </a:r>
          </a:p>
          <a:p>
            <a:r>
              <a:rPr lang="en-US"/>
              <a:t>7.Patience − This is another virtue which is very important for entrepreneurship as the path to success is often very challenging and it requires a lot of patience for sustenance.</a:t>
            </a:r>
          </a:p>
          <a:p>
            <a:r>
              <a:rPr lang="en-US"/>
              <a:t>8.Emotional tolerance − The ability to balance professional and personal life and not mixing the two is another important trait of an entrepreneur.</a:t>
            </a:r>
          </a:p>
          <a:p>
            <a:r>
              <a:rPr lang="en-US"/>
              <a:t>9.Leadership quality − Entrepreneurs should be able to lead, control and motivate the mass.</a:t>
            </a:r>
          </a:p>
          <a:p>
            <a:r>
              <a:rPr lang="en-US"/>
              <a:t>10.Technical skill − To be in stride with the recent times, entrepreneurs should at least have a basic knowledge about the technologies that are to be used.</a:t>
            </a:r>
          </a:p>
          <a:p>
            <a:r>
              <a:rPr lang="en-US"/>
              <a:t>11.Managerial skill − Entrepreneurs should have the required skill to manage different people such as clients, employees, co-workers, competitors, etc.</a:t>
            </a:r>
          </a:p>
          <a:p>
            <a:r>
              <a:rPr lang="en-US"/>
              <a:t>12.Conflict resolution skill − Entrepreneurs should be able to resolve any type of dispute.</a:t>
            </a:r>
          </a:p>
          <a:p>
            <a:r>
              <a:rPr lang="en-US"/>
              <a:t>13.Organizing skill − They should be highly organized and should be able to maintain everything in a format and style.</a:t>
            </a:r>
          </a:p>
          <a:p>
            <a:r>
              <a:rPr lang="en-US"/>
              <a:t>14.High motivation − Entrepreneurs should have high level of motivation. They should be able to encourage everyone to give their level best.</a:t>
            </a:r>
          </a:p>
          <a:p>
            <a:r>
              <a:rPr lang="en-US"/>
              <a:t>15.Creative − They should be innovative and invite new creative ideas from others as well.</a:t>
            </a:r>
          </a:p>
          <a:p>
            <a:r>
              <a:rPr lang="en-US"/>
              <a:t>16.Reality-oriented − They should be practical and have rational thinking</a:t>
            </a:r>
          </a:p>
        </p:txBody>
      </p:sp>
    </p:spTree>
    <p:extLst>
      <p:ext uri="{BB962C8B-B14F-4D97-AF65-F5344CB8AC3E}">
        <p14:creationId xmlns:p14="http://schemas.microsoft.com/office/powerpoint/2010/main" val="3197812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5B8B37A-9EB2-4F35-96F9-910221E8A4F6}"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93339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C855BF-EAF0-4736-B886-621BA277B6BB}"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05869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EDE876D-9D36-4759-BE3D-647452A8C03D}"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75153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4B4D551-4A49-4CBC-BF4C-07DB6329A5FE}" type="datetime1">
              <a:rPr lang="en-US" smtClean="0"/>
              <a:t>1/14/2026</a:t>
            </a:fld>
            <a:endParaRPr lang="en-US"/>
          </a:p>
        </p:txBody>
      </p:sp>
      <p:sp>
        <p:nvSpPr>
          <p:cNvPr id="6" name="Footer Placeholder 5"/>
          <p:cNvSpPr>
            <a:spLocks noGrp="1"/>
          </p:cNvSpPr>
          <p:nvPr>
            <p:ph type="ftr" sz="quarter" idx="11"/>
          </p:nvPr>
        </p:nvSpPr>
        <p:spPr/>
        <p:txBody>
          <a:bodyPr/>
          <a:lstStyle/>
          <a:p>
            <a:r>
              <a:rPr lang="en-US" smtClean="0"/>
              <a:t>BBM 412: ENTREPRENEURSHIP</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5412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49C34EE-6259-4D9B-80EC-8F1FF0ABB19E}" type="datetime1">
              <a:rPr lang="en-US" smtClean="0"/>
              <a:t>1/14/2026</a:t>
            </a:fld>
            <a:endParaRPr lang="en-US"/>
          </a:p>
        </p:txBody>
      </p:sp>
      <p:sp>
        <p:nvSpPr>
          <p:cNvPr id="8" name="Footer Placeholder 7"/>
          <p:cNvSpPr>
            <a:spLocks noGrp="1"/>
          </p:cNvSpPr>
          <p:nvPr>
            <p:ph type="ftr" sz="quarter" idx="11"/>
          </p:nvPr>
        </p:nvSpPr>
        <p:spPr/>
        <p:txBody>
          <a:bodyPr/>
          <a:lstStyle/>
          <a:p>
            <a:r>
              <a:rPr lang="en-US" smtClean="0"/>
              <a:t>BBM 412: ENTREPRENEURSHIP</a:t>
            </a:r>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121398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6DC1442-C926-4FF0-9F30-142B36973608}" type="datetime1">
              <a:rPr lang="en-US" smtClean="0"/>
              <a:t>1/14/2026</a:t>
            </a:fld>
            <a:endParaRPr lang="en-US"/>
          </a:p>
        </p:txBody>
      </p:sp>
      <p:sp>
        <p:nvSpPr>
          <p:cNvPr id="4" name="Footer Placeholder 3"/>
          <p:cNvSpPr>
            <a:spLocks noGrp="1"/>
          </p:cNvSpPr>
          <p:nvPr>
            <p:ph type="ftr" sz="quarter" idx="11"/>
          </p:nvPr>
        </p:nvSpPr>
        <p:spPr/>
        <p:txBody>
          <a:bodyPr/>
          <a:lstStyle/>
          <a:p>
            <a:r>
              <a:rPr lang="en-US" smtClean="0"/>
              <a:t>BBM 412: ENTREPRENEURSHIP</a:t>
            </a:r>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97091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3A58EA-D01D-49FA-9B50-27F1DFB61028}" type="datetime1">
              <a:rPr lang="en-US" smtClean="0"/>
              <a:t>1/14/2026</a:t>
            </a:fld>
            <a:endParaRPr lang="en-US"/>
          </a:p>
        </p:txBody>
      </p:sp>
      <p:sp>
        <p:nvSpPr>
          <p:cNvPr id="3" name="Footer Placeholder 2"/>
          <p:cNvSpPr>
            <a:spLocks noGrp="1"/>
          </p:cNvSpPr>
          <p:nvPr>
            <p:ph type="ftr" sz="quarter" idx="11"/>
          </p:nvPr>
        </p:nvSpPr>
        <p:spPr/>
        <p:txBody>
          <a:bodyPr/>
          <a:lstStyle/>
          <a:p>
            <a:r>
              <a:rPr lang="en-US" smtClean="0"/>
              <a:t>BBM 412: ENTREPRENEURSHIP</a:t>
            </a:r>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802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7918D6-0383-4B2A-8BC8-2E2BEFB40548}" type="datetime1">
              <a:rPr lang="en-US" smtClean="0"/>
              <a:t>1/14/2026</a:t>
            </a:fld>
            <a:endParaRPr lang="en-US"/>
          </a:p>
        </p:txBody>
      </p:sp>
      <p:sp>
        <p:nvSpPr>
          <p:cNvPr id="6" name="Footer Placeholder 5"/>
          <p:cNvSpPr>
            <a:spLocks noGrp="1"/>
          </p:cNvSpPr>
          <p:nvPr>
            <p:ph type="ftr" sz="quarter" idx="11"/>
          </p:nvPr>
        </p:nvSpPr>
        <p:spPr/>
        <p:txBody>
          <a:bodyPr/>
          <a:lstStyle/>
          <a:p>
            <a:r>
              <a:rPr lang="en-US" smtClean="0"/>
              <a:t>BBM 412: ENTREPRENEURSHIP</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14207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BBM 412: ENTREPRENEURSHIP</a:t>
            </a:r>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
        <p:nvSpPr>
          <p:cNvPr id="5" name="Date Placeholder 4"/>
          <p:cNvSpPr>
            <a:spLocks noGrp="1"/>
          </p:cNvSpPr>
          <p:nvPr>
            <p:ph type="dt" sz="half" idx="10"/>
          </p:nvPr>
        </p:nvSpPr>
        <p:spPr/>
        <p:txBody>
          <a:bodyPr/>
          <a:lstStyle/>
          <a:p>
            <a:fld id="{29691F4F-859C-47B6-9745-1E643A276292}" type="datetime1">
              <a:rPr lang="en-US" smtClean="0"/>
              <a:t>1/14/2026</a:t>
            </a:fld>
            <a:endParaRPr lang="en-US"/>
          </a:p>
        </p:txBody>
      </p:sp>
    </p:spTree>
    <p:extLst>
      <p:ext uri="{BB962C8B-B14F-4D97-AF65-F5344CB8AC3E}">
        <p14:creationId xmlns:p14="http://schemas.microsoft.com/office/powerpoint/2010/main" val="3656191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890C02-A659-4DA8-9EDE-4BB4CFA36107}"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867797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7B09E3-391D-4A81-851F-B997EE8845E4}"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86848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6633D4E-EA59-4B29-9F10-E94818327CD2}"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90235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60ECA9-6A79-436F-A610-23C02A7DC667}"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6844116"/>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60ECA9-6A79-436F-A610-23C02A7DC667}"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624114098"/>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485F6E-8DBB-4C50-B8EC-4A2085C8B26E}"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18750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DD20320-CF3E-4A8C-9870-72B9CE78E1B8}" type="datetime1">
              <a:rPr lang="en-US" smtClean="0"/>
              <a:t>1/14/2026</a:t>
            </a:fld>
            <a:endParaRPr lang="en-US"/>
          </a:p>
        </p:txBody>
      </p:sp>
      <p:sp>
        <p:nvSpPr>
          <p:cNvPr id="5" name="Footer Placeholder 4"/>
          <p:cNvSpPr>
            <a:spLocks noGrp="1"/>
          </p:cNvSpPr>
          <p:nvPr>
            <p:ph type="ftr" sz="quarter" idx="11"/>
          </p:nvPr>
        </p:nvSpPr>
        <p:spPr/>
        <p:txBody>
          <a:bodyPr/>
          <a:lstStyle/>
          <a:p>
            <a:r>
              <a:rPr lang="en-US" smtClean="0"/>
              <a:t>BBM 412: ENTREPRENEURSHIP</a:t>
            </a:r>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571481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260ECA9-6A79-436F-A610-23C02A7DC667}" type="datetime1">
              <a:rPr lang="en-US" smtClean="0"/>
              <a:t>1/14/2026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mtClean="0"/>
              <a:t>BBM 412: ENTREPRENEURSHIP</a:t>
            </a:r>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1902794262"/>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61" r:id="rId14"/>
    <p:sldLayoutId id="2147483862" r:id="rId15"/>
    <p:sldLayoutId id="2147483863" r:id="rId16"/>
  </p:sldLayoutIdLst>
  <p:hf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youtube.com/watch?v=bPMyUQoGJms"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56502" y="2246827"/>
            <a:ext cx="7108985" cy="1223683"/>
          </a:xfrm>
          <a:solidFill>
            <a:schemeClr val="bg1"/>
          </a:solidFill>
          <a:ln>
            <a:solidFill>
              <a:schemeClr val="accent1"/>
            </a:solidFill>
          </a:ln>
        </p:spPr>
        <p:txBody>
          <a:bodyPr/>
          <a:lstStyle/>
          <a:p>
            <a:pPr algn="ctr">
              <a:lnSpc>
                <a:spcPct val="140000"/>
              </a:lnSpc>
            </a:pPr>
            <a:r>
              <a:rPr lang="en-US" sz="2800" b="1" dirty="0">
                <a:solidFill>
                  <a:schemeClr val="accent1"/>
                </a:solidFill>
              </a:rPr>
              <a:t>SCHOOL OF </a:t>
            </a:r>
            <a:r>
              <a:rPr lang="en-US" sz="2800" b="1" dirty="0" smtClean="0">
                <a:solidFill>
                  <a:schemeClr val="accent1"/>
                </a:solidFill>
              </a:rPr>
              <a:t>BUSINESS &amp; ECONOMICS</a:t>
            </a:r>
            <a:r>
              <a:rPr lang="en-US" sz="2800" b="1" dirty="0">
                <a:solidFill>
                  <a:schemeClr val="accent1"/>
                </a:solidFill>
              </a:rPr>
              <a:t/>
            </a:r>
            <a:br>
              <a:rPr lang="en-US" sz="2800" b="1" dirty="0">
                <a:solidFill>
                  <a:schemeClr val="accent1"/>
                </a:solidFill>
              </a:rPr>
            </a:br>
            <a:r>
              <a:rPr lang="en-US" sz="2000" dirty="0" smtClean="0">
                <a:solidFill>
                  <a:schemeClr val="accent1"/>
                </a:solidFill>
              </a:rPr>
              <a:t>BCU 410: ENTREPRENEURSHIP AND INNOVATION</a:t>
            </a:r>
            <a:endParaRPr lang="en-US" sz="500" dirty="0">
              <a:solidFill>
                <a:schemeClr val="accent1"/>
              </a:solidFill>
            </a:endParaRPr>
          </a:p>
        </p:txBody>
      </p:sp>
      <p:sp>
        <p:nvSpPr>
          <p:cNvPr id="3" name="Subtitle 2"/>
          <p:cNvSpPr>
            <a:spLocks noGrp="1"/>
          </p:cNvSpPr>
          <p:nvPr>
            <p:ph type="subTitle" idx="1"/>
          </p:nvPr>
        </p:nvSpPr>
        <p:spPr>
          <a:xfrm>
            <a:off x="9045651" y="4326780"/>
            <a:ext cx="3016361" cy="2195043"/>
          </a:xfrm>
          <a:solidFill>
            <a:schemeClr val="bg1"/>
          </a:solidFill>
        </p:spPr>
        <p:txBody>
          <a:bodyPr>
            <a:noAutofit/>
          </a:bodyPr>
          <a:lstStyle/>
          <a:p>
            <a:r>
              <a:rPr lang="en-US" sz="1800" b="1" dirty="0">
                <a:solidFill>
                  <a:schemeClr val="tx1"/>
                </a:solidFill>
              </a:rPr>
              <a:t>Prof. Peter B. </a:t>
            </a:r>
            <a:r>
              <a:rPr lang="en-US" sz="1800" b="1" dirty="0" err="1">
                <a:solidFill>
                  <a:schemeClr val="tx1"/>
                </a:solidFill>
              </a:rPr>
              <a:t>Kibas</a:t>
            </a:r>
            <a:r>
              <a:rPr lang="en-US" sz="1800" b="1" dirty="0">
                <a:solidFill>
                  <a:schemeClr val="tx1"/>
                </a:solidFill>
              </a:rPr>
              <a:t> </a:t>
            </a:r>
          </a:p>
          <a:p>
            <a:r>
              <a:rPr lang="en-US" sz="1600" dirty="0">
                <a:solidFill>
                  <a:schemeClr val="tx1"/>
                </a:solidFill>
              </a:rPr>
              <a:t>PhD </a:t>
            </a:r>
            <a:r>
              <a:rPr lang="en-US" sz="1600" dirty="0" smtClean="0">
                <a:solidFill>
                  <a:schemeClr val="tx1"/>
                </a:solidFill>
              </a:rPr>
              <a:t>Ed</a:t>
            </a:r>
            <a:r>
              <a:rPr lang="en-US" sz="1600" dirty="0">
                <a:solidFill>
                  <a:schemeClr val="tx1"/>
                </a:solidFill>
              </a:rPr>
              <a:t>. M (Illinois- USA)</a:t>
            </a:r>
          </a:p>
          <a:p>
            <a:r>
              <a:rPr lang="en-US" sz="1600" dirty="0" smtClean="0">
                <a:solidFill>
                  <a:schemeClr val="tx1"/>
                </a:solidFill>
              </a:rPr>
              <a:t>B.Ed./</a:t>
            </a:r>
            <a:r>
              <a:rPr lang="en-US" sz="1600" dirty="0">
                <a:solidFill>
                  <a:schemeClr val="tx1"/>
                </a:solidFill>
              </a:rPr>
              <a:t>Bus (New Brunswick - Canada)</a:t>
            </a:r>
          </a:p>
          <a:p>
            <a:r>
              <a:rPr lang="en-US" sz="1600" dirty="0">
                <a:solidFill>
                  <a:schemeClr val="tx1"/>
                </a:solidFill>
              </a:rPr>
              <a:t> FKIM, MISBE(UK) </a:t>
            </a:r>
          </a:p>
          <a:p>
            <a:r>
              <a:rPr lang="en-US" sz="1600" dirty="0">
                <a:solidFill>
                  <a:schemeClr val="tx1"/>
                </a:solidFill>
              </a:rPr>
              <a:t>MICSB(USA)</a:t>
            </a:r>
          </a:p>
        </p:txBody>
      </p:sp>
      <p:sp>
        <p:nvSpPr>
          <p:cNvPr id="6" name="Date Placeholder 5"/>
          <p:cNvSpPr>
            <a:spLocks noGrp="1"/>
          </p:cNvSpPr>
          <p:nvPr>
            <p:ph type="dt" sz="half" idx="10"/>
          </p:nvPr>
        </p:nvSpPr>
        <p:spPr>
          <a:xfrm>
            <a:off x="8148183" y="6402823"/>
            <a:ext cx="897467" cy="279400"/>
          </a:xfrm>
        </p:spPr>
        <p:txBody>
          <a:bodyPr/>
          <a:lstStyle/>
          <a:p>
            <a:fld id="{3CC1113A-EF18-4FF9-ACC8-BA5E09F781C1}" type="datetime1">
              <a:rPr lang="en-US" smtClean="0"/>
              <a:t>1/14/2026</a:t>
            </a:fld>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1</a:t>
            </a:fld>
            <a:endParaRPr lang="en-US" dirty="0"/>
          </a:p>
        </p:txBody>
      </p:sp>
      <p:sp>
        <p:nvSpPr>
          <p:cNvPr id="5" name="Text Box 4"/>
          <p:cNvSpPr txBox="1"/>
          <p:nvPr/>
        </p:nvSpPr>
        <p:spPr>
          <a:xfrm>
            <a:off x="2813896" y="4098081"/>
            <a:ext cx="5783020" cy="1815882"/>
          </a:xfrm>
          <a:prstGeom prst="rect">
            <a:avLst/>
          </a:prstGeom>
          <a:noFill/>
          <a:ln>
            <a:solidFill>
              <a:schemeClr val="accent1"/>
            </a:solidFill>
          </a:ln>
        </p:spPr>
        <p:txBody>
          <a:bodyPr wrap="square" rtlCol="0">
            <a:spAutoFit/>
          </a:bodyPr>
          <a:lstStyle/>
          <a:p>
            <a:pPr algn="ctr"/>
            <a:r>
              <a:rPr lang="en-US" sz="2800" u="sng" dirty="0"/>
              <a:t>SEMESTER</a:t>
            </a:r>
            <a:r>
              <a:rPr lang="en-US" sz="2800" dirty="0"/>
              <a:t>: </a:t>
            </a:r>
            <a:r>
              <a:rPr lang="en-US" sz="2800" dirty="0" smtClean="0"/>
              <a:t>JAN – APR 2026</a:t>
            </a:r>
            <a:endParaRPr lang="en-US" sz="2800" dirty="0" smtClean="0"/>
          </a:p>
          <a:p>
            <a:pPr algn="ctr"/>
            <a:r>
              <a:rPr lang="en-US" sz="2800" u="sng" dirty="0" smtClean="0"/>
              <a:t>TOPIC 1</a:t>
            </a:r>
            <a:r>
              <a:rPr lang="en-US" sz="2800" dirty="0" smtClean="0"/>
              <a:t>: OVERVIEW OF ENTREPRENEURSHIP AND INNOVATION</a:t>
            </a:r>
            <a:endParaRPr lang="en-US" sz="2800" dirty="0"/>
          </a:p>
        </p:txBody>
      </p:sp>
      <p:pic>
        <p:nvPicPr>
          <p:cNvPr id="10" name="Picture 2" descr="Zetech Digital Schoo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0157" y="218942"/>
            <a:ext cx="10341676" cy="1766028"/>
          </a:xfrm>
          <a:prstGeom prst="rect">
            <a:avLst/>
          </a:prstGeom>
          <a:noFill/>
          <a:ln w="38100">
            <a:solidFill>
              <a:schemeClr val="accent2">
                <a:lumMod val="50000"/>
              </a:schemeClr>
            </a:solidFill>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6096" y="120394"/>
            <a:ext cx="8596668" cy="658960"/>
          </a:xfrm>
        </p:spPr>
        <p:txBody>
          <a:bodyPr>
            <a:normAutofit fontScale="90000"/>
          </a:bodyPr>
          <a:lstStyle/>
          <a:p>
            <a:r>
              <a:rPr lang="en-US" sz="4000" dirty="0" smtClean="0">
                <a:solidFill>
                  <a:schemeClr val="accent1"/>
                </a:solidFill>
              </a:rPr>
              <a:t>PICTURE OF THE DAY</a:t>
            </a:r>
            <a:endParaRPr lang="en-US" sz="4000" dirty="0">
              <a:solidFill>
                <a:schemeClr val="accent1"/>
              </a:solidFill>
            </a:endParaRPr>
          </a:p>
        </p:txBody>
      </p:sp>
      <p:pic>
        <p:nvPicPr>
          <p:cNvPr id="9" name="Picture 2" descr="Entrepreneurship: Definition, Origin, Concept"/>
          <p:cNvPicPr>
            <a:picLocks noGrp="1" noChangeAspect="1" noChangeArrowheads="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766482" y="1230867"/>
            <a:ext cx="11040036" cy="5627133"/>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F7163142-B08B-4747-8D7D-FFCD6E2734DA}" type="datetime1">
              <a:rPr lang="en-US" smtClean="0"/>
              <a:t>1/14/2026</a:t>
            </a:fld>
            <a:endParaRPr lang="en-US"/>
          </a:p>
        </p:txBody>
      </p:sp>
      <p:sp>
        <p:nvSpPr>
          <p:cNvPr id="7" name="Slide Number Placeholder 6"/>
          <p:cNvSpPr>
            <a:spLocks noGrp="1"/>
          </p:cNvSpPr>
          <p:nvPr>
            <p:ph type="sldNum" sz="quarter" idx="12"/>
          </p:nvPr>
        </p:nvSpPr>
        <p:spPr>
          <a:xfrm>
            <a:off x="8423835" y="6215015"/>
            <a:ext cx="2844800" cy="476250"/>
          </a:xfrm>
        </p:spPr>
        <p:txBody>
          <a:bodyPr/>
          <a:lstStyle/>
          <a:p>
            <a:fld id="{9B618960-8005-486C-9A75-10CB2AAC16F9}" type="slidenum">
              <a:rPr lang="en-US" smtClean="0"/>
              <a:t>2</a:t>
            </a:fld>
            <a:endParaRPr lang="en-US"/>
          </a:p>
        </p:txBody>
      </p:sp>
      <p:pic>
        <p:nvPicPr>
          <p:cNvPr id="10" name="Picture 9"/>
          <p:cNvPicPr>
            <a:picLocks noChangeAspect="1"/>
          </p:cNvPicPr>
          <p:nvPr/>
        </p:nvPicPr>
        <p:blipFill rotWithShape="1">
          <a:blip r:embed="rId3"/>
          <a:srcRect l="5504" t="-2334" r="50294" b="-1"/>
          <a:stretch/>
        </p:blipFill>
        <p:spPr>
          <a:xfrm>
            <a:off x="0" y="0"/>
            <a:ext cx="2663609" cy="1184007"/>
          </a:xfrm>
          <a:prstGeom prst="rect">
            <a:avLst/>
          </a:prstGeom>
          <a:ln w="28575">
            <a:solidFill>
              <a:schemeClr val="accent2">
                <a:lumMod val="75000"/>
              </a:schemeClr>
            </a:solidFill>
          </a:ln>
        </p:spPr>
      </p:pic>
    </p:spTree>
    <p:extLst>
      <p:ext uri="{BB962C8B-B14F-4D97-AF65-F5344CB8AC3E}">
        <p14:creationId xmlns:p14="http://schemas.microsoft.com/office/powerpoint/2010/main" val="2269848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0"/>
            <a:ext cx="8596668" cy="753035"/>
          </a:xfrm>
        </p:spPr>
        <p:txBody>
          <a:bodyPr/>
          <a:lstStyle/>
          <a:p>
            <a:pPr algn="ctr"/>
            <a:r>
              <a:rPr lang="en-US" sz="4000" b="1" dirty="0" smtClean="0"/>
              <a:t>COURSE OVERVIEW</a:t>
            </a:r>
            <a:endParaRPr lang="en-US" sz="4000" b="1" dirty="0"/>
          </a:p>
        </p:txBody>
      </p:sp>
      <p:sp>
        <p:nvSpPr>
          <p:cNvPr id="3" name="Content Placeholder 2"/>
          <p:cNvSpPr>
            <a:spLocks noGrp="1"/>
          </p:cNvSpPr>
          <p:nvPr>
            <p:ph idx="1"/>
          </p:nvPr>
        </p:nvSpPr>
        <p:spPr>
          <a:xfrm>
            <a:off x="537882" y="1184007"/>
            <a:ext cx="10569389" cy="5207831"/>
          </a:xfrm>
          <a:solidFill>
            <a:schemeClr val="bg1"/>
          </a:solidFill>
          <a:ln>
            <a:solidFill>
              <a:schemeClr val="accent1"/>
            </a:solidFill>
          </a:ln>
        </p:spPr>
        <p:txBody>
          <a:bodyPr/>
          <a:lstStyle/>
          <a:p>
            <a:pPr algn="ctr"/>
            <a:endParaRPr lang="en-US" sz="2400" b="1" dirty="0" smtClean="0"/>
          </a:p>
          <a:p>
            <a:pPr algn="ctr"/>
            <a:r>
              <a:rPr lang="en-US" sz="2400" b="1" dirty="0" smtClean="0"/>
              <a:t>ENTREPRENEURSHIP AND INNOVATION</a:t>
            </a:r>
            <a:endParaRPr lang="en-GB" sz="2400" b="1" dirty="0" smtClean="0"/>
          </a:p>
          <a:p>
            <a:pPr marL="457200" indent="-457200">
              <a:buFont typeface="+mj-lt"/>
              <a:buAutoNum type="arabicPeriod"/>
            </a:pPr>
            <a:r>
              <a:rPr lang="en-GB" sz="2400" dirty="0"/>
              <a:t>T</a:t>
            </a:r>
            <a:r>
              <a:rPr lang="en-GB" sz="2400" dirty="0" smtClean="0"/>
              <a:t>o </a:t>
            </a:r>
            <a:r>
              <a:rPr lang="en-GB" sz="2400" dirty="0"/>
              <a:t>provide </a:t>
            </a:r>
            <a:r>
              <a:rPr lang="en-GB" sz="2400" dirty="0" smtClean="0"/>
              <a:t>YOU WITH </a:t>
            </a:r>
            <a:r>
              <a:rPr lang="en-GB" sz="2400" dirty="0"/>
              <a:t>an understanding of the nature of enterprise and entrepreneurship </a:t>
            </a:r>
            <a:endParaRPr lang="en-GB" sz="2400" dirty="0" smtClean="0"/>
          </a:p>
          <a:p>
            <a:pPr marL="457200" indent="-457200">
              <a:buFont typeface="+mj-lt"/>
              <a:buAutoNum type="arabicPeriod"/>
            </a:pPr>
            <a:r>
              <a:rPr lang="en-GB" sz="2400" dirty="0" smtClean="0"/>
              <a:t>Introduces YOU TO </a:t>
            </a:r>
            <a:r>
              <a:rPr lang="en-GB" sz="2400" dirty="0"/>
              <a:t>the role of the entrepreneur, innovation and technology in the entrepreneurial </a:t>
            </a:r>
            <a:r>
              <a:rPr lang="en-GB" sz="2400" dirty="0" smtClean="0"/>
              <a:t>process</a:t>
            </a:r>
            <a:r>
              <a:rPr lang="en-GB" sz="2400" dirty="0"/>
              <a:t> </a:t>
            </a:r>
            <a:r>
              <a:rPr lang="en-GB" sz="2400" dirty="0" smtClean="0"/>
              <a:t>for economic and social </a:t>
            </a:r>
          </a:p>
          <a:p>
            <a:pPr marL="457200" indent="-457200">
              <a:buFont typeface="+mj-lt"/>
              <a:buAutoNum type="arabicPeriod"/>
            </a:pPr>
            <a:r>
              <a:rPr lang="en-GB" sz="2400" dirty="0" smtClean="0"/>
              <a:t>Exposes YOU TO </a:t>
            </a:r>
            <a:r>
              <a:rPr lang="en-GB" sz="2400" dirty="0"/>
              <a:t>the process of starting a company or being involved in research and development in companies of all sizes and industries.</a:t>
            </a:r>
            <a:endParaRPr lang="en-US" sz="2400" dirty="0"/>
          </a:p>
        </p:txBody>
      </p:sp>
      <p:sp>
        <p:nvSpPr>
          <p:cNvPr id="4" name="Date Placeholder 3"/>
          <p:cNvSpPr>
            <a:spLocks noGrp="1"/>
          </p:cNvSpPr>
          <p:nvPr>
            <p:ph type="dt" sz="half" idx="10"/>
          </p:nvPr>
        </p:nvSpPr>
        <p:spPr/>
        <p:txBody>
          <a:bodyPr/>
          <a:lstStyle/>
          <a:p>
            <a:fld id="{1DC855BF-EAF0-4736-B886-621BA277B6BB}" type="datetime1">
              <a:rPr lang="en-US" smtClean="0"/>
              <a:t>1/14/2026</a:t>
            </a:fld>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3</a:t>
            </a:fld>
            <a:endParaRPr lang="en-US"/>
          </a:p>
        </p:txBody>
      </p:sp>
      <p:pic>
        <p:nvPicPr>
          <p:cNvPr id="6" name="Picture 5"/>
          <p:cNvPicPr>
            <a:picLocks noChangeAspect="1"/>
          </p:cNvPicPr>
          <p:nvPr/>
        </p:nvPicPr>
        <p:blipFill rotWithShape="1">
          <a:blip r:embed="rId2"/>
          <a:srcRect l="5504" t="-2334" r="50294" b="-1"/>
          <a:stretch/>
        </p:blipFill>
        <p:spPr>
          <a:xfrm>
            <a:off x="0" y="0"/>
            <a:ext cx="2663609" cy="1184007"/>
          </a:xfrm>
          <a:prstGeom prst="rect">
            <a:avLst/>
          </a:prstGeom>
          <a:ln w="28575">
            <a:solidFill>
              <a:schemeClr val="accent2">
                <a:lumMod val="75000"/>
              </a:schemeClr>
            </a:solidFill>
          </a:ln>
        </p:spPr>
      </p:pic>
    </p:spTree>
    <p:extLst>
      <p:ext uri="{BB962C8B-B14F-4D97-AF65-F5344CB8AC3E}">
        <p14:creationId xmlns:p14="http://schemas.microsoft.com/office/powerpoint/2010/main" val="2227815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3095" y="9073"/>
            <a:ext cx="9001125" cy="582930"/>
          </a:xfrm>
        </p:spPr>
        <p:txBody>
          <a:bodyPr>
            <a:normAutofit fontScale="90000"/>
          </a:bodyPr>
          <a:lstStyle/>
          <a:p>
            <a:r>
              <a:rPr lang="en-US" dirty="0">
                <a:solidFill>
                  <a:schemeClr val="accent2"/>
                </a:solidFill>
              </a:rPr>
              <a:t>INTRODUCTION</a:t>
            </a:r>
          </a:p>
        </p:txBody>
      </p:sp>
      <p:sp>
        <p:nvSpPr>
          <p:cNvPr id="3" name="Content Placeholder 2"/>
          <p:cNvSpPr>
            <a:spLocks noGrp="1"/>
          </p:cNvSpPr>
          <p:nvPr>
            <p:ph sz="half" idx="1"/>
          </p:nvPr>
        </p:nvSpPr>
        <p:spPr>
          <a:xfrm>
            <a:off x="609600" y="1184275"/>
            <a:ext cx="10972800" cy="5524500"/>
          </a:xfrm>
          <a:solidFill>
            <a:schemeClr val="bg1"/>
          </a:solidFill>
          <a:ln w="12700" cmpd="sng">
            <a:solidFill>
              <a:srgbClr val="92D050"/>
            </a:solidFill>
            <a:prstDash val="solid"/>
          </a:ln>
        </p:spPr>
        <p:txBody>
          <a:bodyPr>
            <a:normAutofit lnSpcReduction="10000"/>
          </a:bodyPr>
          <a:lstStyle/>
          <a:p>
            <a:pPr marL="0" indent="0" algn="ctr">
              <a:buNone/>
            </a:pPr>
            <a:r>
              <a:rPr lang="en-US" sz="240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TOPIC QUOTE</a:t>
            </a:r>
            <a:endParaRPr 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a:p>
            <a:endParaRPr lang="en-US" sz="2400" dirty="0"/>
          </a:p>
          <a:p>
            <a:endParaRPr lang="en-US" sz="2400" dirty="0"/>
          </a:p>
          <a:p>
            <a:r>
              <a:rPr lang="en-US" sz="2600" dirty="0" smtClean="0"/>
              <a:t>Topic Objectives</a:t>
            </a:r>
            <a:endParaRPr lang="en-US" sz="2600" dirty="0"/>
          </a:p>
          <a:p>
            <a:pPr marL="914400" lvl="1" indent="-457200">
              <a:buFont typeface="+mj-lt"/>
              <a:buAutoNum type="arabicPeriod"/>
            </a:pPr>
            <a:r>
              <a:rPr lang="en-US" sz="2400" dirty="0"/>
              <a:t>Define </a:t>
            </a:r>
            <a:r>
              <a:rPr lang="en-US" sz="2400" dirty="0" smtClean="0"/>
              <a:t>Entrepreneurship</a:t>
            </a:r>
          </a:p>
          <a:p>
            <a:pPr marL="914400" lvl="1" indent="-457200">
              <a:buFont typeface="+mj-lt"/>
              <a:buAutoNum type="arabicPeriod"/>
            </a:pPr>
            <a:r>
              <a:rPr lang="en-US" sz="2400" dirty="0" smtClean="0"/>
              <a:t>Appreciate the history of entrepreneurship</a:t>
            </a:r>
          </a:p>
          <a:p>
            <a:pPr marL="914400" lvl="1" indent="-457200">
              <a:buFont typeface="+mj-lt"/>
              <a:buAutoNum type="arabicPeriod"/>
            </a:pPr>
            <a:r>
              <a:rPr lang="en-US" sz="2400" dirty="0" smtClean="0"/>
              <a:t>Evaluate the theories of entrepreneurship</a:t>
            </a:r>
          </a:p>
          <a:p>
            <a:pPr marL="914400" lvl="1" indent="-457200">
              <a:buFont typeface="+mj-lt"/>
              <a:buAutoNum type="arabicPeriod"/>
            </a:pPr>
            <a:r>
              <a:rPr lang="en-US" sz="2400" dirty="0" smtClean="0"/>
              <a:t>Understand creativity and innovation</a:t>
            </a:r>
          </a:p>
          <a:p>
            <a:pPr marL="914400" lvl="1" indent="-457200">
              <a:buFont typeface="+mj-lt"/>
              <a:buAutoNum type="arabicPeriod"/>
            </a:pPr>
            <a:r>
              <a:rPr lang="en-US" sz="2400" dirty="0" smtClean="0"/>
              <a:t>Evaluate the creative process</a:t>
            </a:r>
          </a:p>
          <a:p>
            <a:pPr marL="914400" lvl="1" indent="-457200">
              <a:buFont typeface="+mj-lt"/>
              <a:buAutoNum type="arabicPeriod"/>
            </a:pPr>
            <a:r>
              <a:rPr lang="en-US" sz="2400" dirty="0" smtClean="0"/>
              <a:t>Appreciate the role of creativity and innovation in entrepreneurship</a:t>
            </a:r>
            <a:endParaRPr lang="en-US" sz="2400" dirty="0"/>
          </a:p>
          <a:p>
            <a:r>
              <a:rPr lang="en-US" dirty="0" smtClean="0"/>
              <a:t>Entrepreneurship </a:t>
            </a:r>
            <a:r>
              <a:rPr lang="en-US" dirty="0"/>
              <a:t>plays an important role in the creation and growth of businesses. Entrepreneurial actions begin when a </a:t>
            </a:r>
            <a:r>
              <a:rPr lang="en-US" dirty="0" smtClean="0"/>
              <a:t>viable business opportunity </a:t>
            </a:r>
            <a:r>
              <a:rPr lang="en-US" dirty="0"/>
              <a:t>meets an enterprising individual. </a:t>
            </a:r>
          </a:p>
        </p:txBody>
      </p:sp>
      <p:sp>
        <p:nvSpPr>
          <p:cNvPr id="9" name="Date Placeholder 8"/>
          <p:cNvSpPr>
            <a:spLocks noGrp="1"/>
          </p:cNvSpPr>
          <p:nvPr>
            <p:ph type="dt" sz="half" idx="10"/>
          </p:nvPr>
        </p:nvSpPr>
        <p:spPr>
          <a:xfrm>
            <a:off x="9025049" y="6429375"/>
            <a:ext cx="1600200" cy="279400"/>
          </a:xfrm>
        </p:spPr>
        <p:txBody>
          <a:bodyPr/>
          <a:lstStyle/>
          <a:p>
            <a:fld id="{27D110F4-E732-4A63-96EA-E755FC62D6CE}" type="datetime1">
              <a:rPr lang="en-US" smtClean="0"/>
              <a:t>1/14/2026</a:t>
            </a:fld>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4</a:t>
            </a:fld>
            <a:endParaRPr lang="en-US"/>
          </a:p>
        </p:txBody>
      </p:sp>
      <p:sp>
        <p:nvSpPr>
          <p:cNvPr id="8" name="Text Box 7"/>
          <p:cNvSpPr txBox="1"/>
          <p:nvPr/>
        </p:nvSpPr>
        <p:spPr>
          <a:xfrm>
            <a:off x="728980" y="1631315"/>
            <a:ext cx="10734675" cy="645160"/>
          </a:xfrm>
          <a:prstGeom prst="rect">
            <a:avLst/>
          </a:prstGeom>
          <a:solidFill>
            <a:schemeClr val="accent1">
              <a:lumMod val="60000"/>
              <a:lumOff val="40000"/>
            </a:schemeClr>
          </a:solidFill>
        </p:spPr>
        <p:txBody>
          <a:bodyPr wrap="square" rtlCol="0">
            <a:spAutoFit/>
          </a:bodyPr>
          <a:lstStyle/>
          <a:p>
            <a:pPr algn="ctr"/>
            <a:r>
              <a:rPr lang="en-US" dirty="0" smtClean="0"/>
              <a:t>“</a:t>
            </a:r>
            <a:r>
              <a:rPr lang="en-US" dirty="0"/>
              <a:t>The best way to predict the future is to create it.”</a:t>
            </a:r>
          </a:p>
          <a:p>
            <a:pPr algn="ctr"/>
            <a:r>
              <a:rPr lang="en-US" dirty="0"/>
              <a:t> Peter Drucker</a:t>
            </a:r>
          </a:p>
        </p:txBody>
      </p:sp>
      <p:pic>
        <p:nvPicPr>
          <p:cNvPr id="11" name="Picture 10"/>
          <p:cNvPicPr>
            <a:picLocks noChangeAspect="1"/>
          </p:cNvPicPr>
          <p:nvPr/>
        </p:nvPicPr>
        <p:blipFill rotWithShape="1">
          <a:blip r:embed="rId3"/>
          <a:srcRect l="5504" t="-2334" r="50294" b="-1"/>
          <a:stretch/>
        </p:blipFill>
        <p:spPr>
          <a:xfrm>
            <a:off x="0" y="0"/>
            <a:ext cx="2663609" cy="1184007"/>
          </a:xfrm>
          <a:prstGeom prst="rect">
            <a:avLst/>
          </a:prstGeom>
          <a:ln w="28575">
            <a:solidFill>
              <a:schemeClr val="accent2">
                <a:lumMod val="75000"/>
              </a:schemeClr>
            </a:solid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0217" y="-3175"/>
            <a:ext cx="9001125" cy="582930"/>
          </a:xfrm>
        </p:spPr>
        <p:txBody>
          <a:bodyPr>
            <a:normAutofit fontScale="90000"/>
          </a:bodyPr>
          <a:lstStyle/>
          <a:p>
            <a:r>
              <a:rPr lang="en-US" dirty="0" smtClean="0">
                <a:solidFill>
                  <a:schemeClr val="tx1"/>
                </a:solidFill>
              </a:rPr>
              <a:t>1. </a:t>
            </a:r>
            <a:r>
              <a:rPr lang="en-US" dirty="0" smtClean="0">
                <a:solidFill>
                  <a:schemeClr val="accent1"/>
                </a:solidFill>
              </a:rPr>
              <a:t>INTRODUCTION</a:t>
            </a:r>
            <a:endParaRPr lang="en-US" dirty="0">
              <a:solidFill>
                <a:schemeClr val="accent1"/>
              </a:solidFill>
            </a:endParaRPr>
          </a:p>
        </p:txBody>
      </p:sp>
      <p:sp>
        <p:nvSpPr>
          <p:cNvPr id="3" name="Content Placeholder 2"/>
          <p:cNvSpPr>
            <a:spLocks noGrp="1"/>
          </p:cNvSpPr>
          <p:nvPr>
            <p:ph sz="half" idx="1"/>
          </p:nvPr>
        </p:nvSpPr>
        <p:spPr>
          <a:xfrm>
            <a:off x="609600" y="1184275"/>
            <a:ext cx="10972800" cy="4953000"/>
          </a:xfrm>
          <a:solidFill>
            <a:schemeClr val="bg1"/>
          </a:solidFill>
          <a:ln w="12700" cmpd="sng">
            <a:solidFill>
              <a:srgbClr val="92D050"/>
            </a:solidFill>
            <a:prstDash val="solid"/>
          </a:ln>
        </p:spPr>
        <p:txBody>
          <a:bodyPr>
            <a:normAutofit/>
          </a:bodyPr>
          <a:lstStyle/>
          <a:p>
            <a:r>
              <a:rPr lang="en-US" sz="2400" dirty="0"/>
              <a:t>Around the world, millions of people are realizing their dream of owning and operating their own </a:t>
            </a:r>
            <a:r>
              <a:rPr lang="en-US" sz="2400" dirty="0" smtClean="0"/>
              <a:t>businesses. </a:t>
            </a:r>
            <a:endParaRPr lang="en-US" sz="2400" dirty="0"/>
          </a:p>
          <a:p>
            <a:r>
              <a:rPr lang="en-US" sz="2400" dirty="0" smtClean="0"/>
              <a:t>Entrepreneurship is the process </a:t>
            </a:r>
            <a:r>
              <a:rPr lang="en-US" sz="2400" dirty="0"/>
              <a:t>of designing, launching and running a new business. The key ingredients are the opportunity and the individual(s). This does not imply just any other individual but a special type called an entrepreneur</a:t>
            </a:r>
            <a:r>
              <a:rPr lang="en-US" sz="2400" dirty="0" smtClean="0"/>
              <a:t>. </a:t>
            </a:r>
            <a:endParaRPr lang="en-US" sz="2400" dirty="0"/>
          </a:p>
          <a:p>
            <a:r>
              <a:rPr lang="en-US" sz="2400" dirty="0"/>
              <a:t>Entrepreneurs act on what they believe is an opportunity  “those situations in which new goods, services, raw materials, and organizing methods can be introduced and sold at greater than their cost of production.”</a:t>
            </a:r>
          </a:p>
          <a:p>
            <a:r>
              <a:rPr lang="en-US" sz="2400" dirty="0"/>
              <a:t>Entrepreneurs </a:t>
            </a:r>
            <a:r>
              <a:rPr lang="en-US" sz="2400" dirty="0" smtClean="0"/>
              <a:t>challenge </a:t>
            </a:r>
            <a:r>
              <a:rPr lang="en-US" sz="2400" dirty="0"/>
              <a:t>the unknown and continuously create the future; innovative and risk takers</a:t>
            </a:r>
            <a:r>
              <a:rPr lang="en-US" sz="2400" dirty="0" smtClean="0"/>
              <a:t>.</a:t>
            </a:r>
            <a:endParaRPr lang="en-US" sz="2400" dirty="0"/>
          </a:p>
        </p:txBody>
      </p:sp>
      <p:sp>
        <p:nvSpPr>
          <p:cNvPr id="9" name="Date Placeholder 8"/>
          <p:cNvSpPr>
            <a:spLocks noGrp="1"/>
          </p:cNvSpPr>
          <p:nvPr>
            <p:ph type="dt" sz="half" idx="10"/>
          </p:nvPr>
        </p:nvSpPr>
        <p:spPr/>
        <p:txBody>
          <a:bodyPr/>
          <a:lstStyle/>
          <a:p>
            <a:fld id="{6736792C-88C3-4900-A487-4DC452AD90C5}"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5</a:t>
            </a:fld>
            <a:endParaRPr lang="en-US"/>
          </a:p>
        </p:txBody>
      </p:sp>
      <p:pic>
        <p:nvPicPr>
          <p:cNvPr id="14" name="Picture 13" descr="zetech jpeg"/>
          <p:cNvPicPr>
            <a:picLocks noChangeAspect="1"/>
          </p:cNvPicPr>
          <p:nvPr/>
        </p:nvPicPr>
        <p:blipFill>
          <a:blip r:embed="rId3"/>
          <a:srcRect b="-4216"/>
          <a:stretch>
            <a:fillRect/>
          </a:stretch>
        </p:blipFill>
        <p:spPr>
          <a:xfrm>
            <a:off x="-5715" y="-3175"/>
            <a:ext cx="2652395" cy="928370"/>
          </a:xfrm>
          <a:prstGeom prst="rect">
            <a:avLst/>
          </a:prstGeom>
        </p:spPr>
      </p:pic>
      <p:pic>
        <p:nvPicPr>
          <p:cNvPr id="8" name="Picture 7"/>
          <p:cNvPicPr>
            <a:picLocks noChangeAspect="1"/>
          </p:cNvPicPr>
          <p:nvPr/>
        </p:nvPicPr>
        <p:blipFill rotWithShape="1">
          <a:blip r:embed="rId4"/>
          <a:srcRect l="5504" t="-2334" r="50294" b="-1"/>
          <a:stretch/>
        </p:blipFill>
        <p:spPr>
          <a:xfrm>
            <a:off x="0" y="0"/>
            <a:ext cx="2663609" cy="1184007"/>
          </a:xfrm>
          <a:prstGeom prst="rect">
            <a:avLst/>
          </a:prstGeom>
          <a:ln w="28575">
            <a:solidFill>
              <a:schemeClr val="accent2">
                <a:lumMod val="75000"/>
              </a:schemeClr>
            </a:solid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4329" y="0"/>
            <a:ext cx="8596668" cy="680188"/>
          </a:xfrm>
        </p:spPr>
        <p:txBody>
          <a:bodyPr>
            <a:normAutofit/>
          </a:bodyPr>
          <a:lstStyle/>
          <a:p>
            <a:r>
              <a:rPr lang="en-US" sz="3200" dirty="0" smtClean="0">
                <a:solidFill>
                  <a:schemeClr val="accent1"/>
                </a:solidFill>
              </a:rPr>
              <a:t>DEFINITION CONT’D </a:t>
            </a:r>
            <a:endParaRPr lang="en-US" sz="3200" dirty="0">
              <a:solidFill>
                <a:schemeClr val="accent1"/>
              </a:solidFill>
            </a:endParaRPr>
          </a:p>
        </p:txBody>
      </p:sp>
      <p:sp>
        <p:nvSpPr>
          <p:cNvPr id="3" name="Content Placeholder 2"/>
          <p:cNvSpPr>
            <a:spLocks noGrp="1"/>
          </p:cNvSpPr>
          <p:nvPr>
            <p:ph sz="half" idx="1"/>
          </p:nvPr>
        </p:nvSpPr>
        <p:spPr>
          <a:xfrm>
            <a:off x="609600" y="1174749"/>
            <a:ext cx="10892118" cy="5521887"/>
          </a:xfrm>
          <a:solidFill>
            <a:schemeClr val="bg1"/>
          </a:solidFill>
          <a:ln>
            <a:solidFill>
              <a:srgbClr val="92D050"/>
            </a:solidFill>
          </a:ln>
        </p:spPr>
        <p:txBody>
          <a:bodyPr>
            <a:noAutofit/>
          </a:bodyPr>
          <a:lstStyle/>
          <a:p>
            <a:r>
              <a:rPr lang="en-US" sz="2800" dirty="0"/>
              <a:t>“Entrepreneurs are people who have the ability to see and evaluate business opportunities, together with the necessary resources to take advantage of them and to intimate appropriate action to ensure success</a:t>
            </a:r>
            <a:r>
              <a:rPr lang="en-US" sz="2800" dirty="0" smtClean="0"/>
              <a:t>.” </a:t>
            </a:r>
            <a:r>
              <a:rPr lang="en-US" sz="2800" i="1" dirty="0" smtClean="0"/>
              <a:t>-</a:t>
            </a:r>
            <a:r>
              <a:rPr lang="en-US" sz="2800" i="1" dirty="0"/>
              <a:t>International Labor Organization (ILO)</a:t>
            </a:r>
            <a:endParaRPr lang="en-US" sz="2800" dirty="0"/>
          </a:p>
          <a:p>
            <a:r>
              <a:rPr lang="en-US" sz="2800" dirty="0"/>
              <a:t>Entrepreneur searches for change, responds to it and exploits opportunities. Innovation is the specific tool of an entrepreneur</a:t>
            </a:r>
            <a:r>
              <a:rPr lang="en-US" sz="2800" dirty="0" smtClean="0"/>
              <a:t>.    </a:t>
            </a:r>
            <a:r>
              <a:rPr lang="en-US" sz="2800" i="1" dirty="0" smtClean="0"/>
              <a:t>-</a:t>
            </a:r>
            <a:r>
              <a:rPr lang="en-US" sz="2800" i="1" dirty="0"/>
              <a:t>Peter F. Drucker</a:t>
            </a:r>
            <a:endParaRPr lang="en-US" sz="2800" dirty="0"/>
          </a:p>
          <a:p>
            <a:r>
              <a:rPr lang="en-US" sz="2800" dirty="0"/>
              <a:t>Entrepreneur is the one who is endowed with more than average capacities in the task of organizing and coordinating the various factors of production. He is pioneer and captain of industry.</a:t>
            </a:r>
          </a:p>
          <a:p>
            <a:pPr marL="0" indent="0">
              <a:buNone/>
            </a:pPr>
            <a:endParaRPr lang="en-US" sz="2800" dirty="0"/>
          </a:p>
        </p:txBody>
      </p:sp>
      <p:sp>
        <p:nvSpPr>
          <p:cNvPr id="5" name="Date Placeholder 4"/>
          <p:cNvSpPr>
            <a:spLocks noGrp="1"/>
          </p:cNvSpPr>
          <p:nvPr>
            <p:ph type="dt" sz="half" idx="10"/>
          </p:nvPr>
        </p:nvSpPr>
        <p:spPr/>
        <p:txBody>
          <a:bodyPr/>
          <a:lstStyle/>
          <a:p>
            <a:fld id="{3D8EC80C-5ED5-4DBD-B1C1-076964D0101A}" type="datetime1">
              <a:rPr lang="en-US" smtClean="0"/>
              <a:t>1/14/2026</a:t>
            </a:fld>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6</a:t>
            </a:fld>
            <a:endParaRPr lang="en-US"/>
          </a:p>
        </p:txBody>
      </p:sp>
      <p:pic>
        <p:nvPicPr>
          <p:cNvPr id="9" name="Picture 8"/>
          <p:cNvPicPr>
            <a:picLocks noChangeAspect="1"/>
          </p:cNvPicPr>
          <p:nvPr/>
        </p:nvPicPr>
        <p:blipFill rotWithShape="1">
          <a:blip r:embed="rId3"/>
          <a:srcRect l="5504" t="-2334" r="50294" b="-1"/>
          <a:stretch/>
        </p:blipFill>
        <p:spPr>
          <a:xfrm>
            <a:off x="0" y="0"/>
            <a:ext cx="2663609" cy="1184007"/>
          </a:xfrm>
          <a:prstGeom prst="rect">
            <a:avLst/>
          </a:prstGeom>
          <a:ln w="28575">
            <a:solidFill>
              <a:schemeClr val="accent2">
                <a:lumMod val="75000"/>
              </a:schemeClr>
            </a:solidFill>
          </a:ln>
        </p:spPr>
      </p:pic>
    </p:spTree>
    <p:extLst>
      <p:ext uri="{BB962C8B-B14F-4D97-AF65-F5344CB8AC3E}">
        <p14:creationId xmlns:p14="http://schemas.microsoft.com/office/powerpoint/2010/main" val="25217221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1275" y="41166"/>
            <a:ext cx="9001125" cy="541764"/>
          </a:xfrm>
        </p:spPr>
        <p:txBody>
          <a:bodyPr>
            <a:normAutofit fontScale="90000"/>
          </a:bodyPr>
          <a:lstStyle/>
          <a:p>
            <a:r>
              <a:rPr lang="en-US" dirty="0" smtClean="0">
                <a:solidFill>
                  <a:schemeClr val="accent1"/>
                </a:solidFill>
                <a:sym typeface="+mn-ea"/>
              </a:rPr>
              <a:t>DEFINITION CONT’D</a:t>
            </a:r>
            <a:endParaRPr lang="en-US" dirty="0">
              <a:solidFill>
                <a:schemeClr val="accent1"/>
              </a:solidFill>
            </a:endParaRPr>
          </a:p>
        </p:txBody>
      </p:sp>
      <p:sp>
        <p:nvSpPr>
          <p:cNvPr id="3" name="Content Placeholder 2"/>
          <p:cNvSpPr>
            <a:spLocks noGrp="1"/>
          </p:cNvSpPr>
          <p:nvPr>
            <p:ph sz="half" idx="1"/>
          </p:nvPr>
        </p:nvSpPr>
        <p:spPr>
          <a:xfrm>
            <a:off x="609600" y="1184275"/>
            <a:ext cx="10972800" cy="4953000"/>
          </a:xfrm>
          <a:solidFill>
            <a:schemeClr val="bg1"/>
          </a:solidFill>
          <a:ln w="12700" cmpd="sng">
            <a:solidFill>
              <a:srgbClr val="92D050"/>
            </a:solidFill>
            <a:prstDash val="solid"/>
          </a:ln>
        </p:spPr>
        <p:txBody>
          <a:bodyPr>
            <a:normAutofit/>
          </a:bodyPr>
          <a:lstStyle/>
          <a:p>
            <a:endParaRPr lang="en-US" sz="2800" dirty="0" smtClean="0">
              <a:sym typeface="+mn-ea"/>
            </a:endParaRPr>
          </a:p>
          <a:p>
            <a:r>
              <a:rPr lang="en-US" sz="2800" dirty="0" smtClean="0">
                <a:sym typeface="+mn-ea"/>
              </a:rPr>
              <a:t>Entrepreneurial </a:t>
            </a:r>
            <a:r>
              <a:rPr lang="en-US" sz="2800" dirty="0">
                <a:sym typeface="+mn-ea"/>
              </a:rPr>
              <a:t>Thinking - processes deciding whether a signal represents an opportunity. </a:t>
            </a:r>
            <a:endParaRPr lang="en-US" sz="2800" dirty="0"/>
          </a:p>
          <a:p>
            <a:r>
              <a:rPr lang="en-US" sz="2800" dirty="0">
                <a:sym typeface="+mn-ea"/>
              </a:rPr>
              <a:t>Entrepreneurial Action - creation of new products/processes through a new business or existing one.</a:t>
            </a:r>
            <a:endParaRPr lang="en-US" sz="2800" dirty="0"/>
          </a:p>
          <a:p>
            <a:r>
              <a:rPr lang="en-US" sz="2800" dirty="0">
                <a:sym typeface="+mn-ea"/>
              </a:rPr>
              <a:t>Hence, an entrepreneur is a person who sets up a business or businesses, taking on financial risks in the hope of profit</a:t>
            </a:r>
            <a:r>
              <a:rPr lang="en-US" sz="2800" dirty="0" smtClean="0">
                <a:sym typeface="+mn-ea"/>
              </a:rPr>
              <a:t>.</a:t>
            </a:r>
          </a:p>
          <a:p>
            <a:endParaRPr lang="en-US" sz="2000" dirty="0"/>
          </a:p>
        </p:txBody>
      </p:sp>
      <p:sp>
        <p:nvSpPr>
          <p:cNvPr id="9" name="Date Placeholder 8"/>
          <p:cNvSpPr>
            <a:spLocks noGrp="1"/>
          </p:cNvSpPr>
          <p:nvPr>
            <p:ph type="dt" sz="half" idx="10"/>
          </p:nvPr>
        </p:nvSpPr>
        <p:spPr/>
        <p:txBody>
          <a:bodyPr/>
          <a:lstStyle/>
          <a:p>
            <a:fld id="{19CCE44E-FD3B-4B65-8370-77AD3EAE1017}"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7</a:t>
            </a:fld>
            <a:endParaRPr lang="en-US"/>
          </a:p>
        </p:txBody>
      </p:sp>
      <p:pic>
        <p:nvPicPr>
          <p:cNvPr id="14" name="Picture 13" descr="zetech jpeg"/>
          <p:cNvPicPr>
            <a:picLocks noChangeAspect="1"/>
          </p:cNvPicPr>
          <p:nvPr/>
        </p:nvPicPr>
        <p:blipFill>
          <a:blip r:embed="rId3"/>
          <a:srcRect b="-4216"/>
          <a:stretch>
            <a:fillRect/>
          </a:stretch>
        </p:blipFill>
        <p:spPr>
          <a:xfrm>
            <a:off x="-5715" y="-3175"/>
            <a:ext cx="2652395" cy="928370"/>
          </a:xfrm>
          <a:prstGeom prst="rect">
            <a:avLst/>
          </a:prstGeom>
        </p:spPr>
      </p:pic>
      <p:pic>
        <p:nvPicPr>
          <p:cNvPr id="10" name="Picture 9"/>
          <p:cNvPicPr>
            <a:picLocks noChangeAspect="1"/>
          </p:cNvPicPr>
          <p:nvPr/>
        </p:nvPicPr>
        <p:blipFill rotWithShape="1">
          <a:blip r:embed="rId4"/>
          <a:srcRect l="5504" t="-2334" r="50294" b="-1"/>
          <a:stretch/>
        </p:blipFill>
        <p:spPr>
          <a:xfrm>
            <a:off x="0" y="0"/>
            <a:ext cx="2663609" cy="1184007"/>
          </a:xfrm>
          <a:prstGeom prst="rect">
            <a:avLst/>
          </a:prstGeom>
          <a:ln w="28575">
            <a:solidFill>
              <a:schemeClr val="accent2">
                <a:lumMod val="75000"/>
              </a:schemeClr>
            </a:solid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41166"/>
            <a:ext cx="9001125" cy="538626"/>
          </a:xfrm>
        </p:spPr>
        <p:txBody>
          <a:bodyPr>
            <a:normAutofit fontScale="90000"/>
          </a:bodyPr>
          <a:lstStyle/>
          <a:p>
            <a:r>
              <a:rPr lang="en-US" dirty="0">
                <a:solidFill>
                  <a:schemeClr val="accent1"/>
                </a:solidFill>
                <a:sym typeface="+mn-ea"/>
              </a:rPr>
              <a:t>DEFINITION CONT’D</a:t>
            </a:r>
            <a:endParaRPr lang="en-US" dirty="0">
              <a:solidFill>
                <a:schemeClr val="accent1"/>
              </a:solidFill>
            </a:endParaRPr>
          </a:p>
        </p:txBody>
      </p:sp>
      <p:sp>
        <p:nvSpPr>
          <p:cNvPr id="3" name="Content Placeholder 2"/>
          <p:cNvSpPr>
            <a:spLocks noGrp="1"/>
          </p:cNvSpPr>
          <p:nvPr>
            <p:ph sz="half" idx="1"/>
          </p:nvPr>
        </p:nvSpPr>
        <p:spPr>
          <a:xfrm>
            <a:off x="609600" y="1184275"/>
            <a:ext cx="10972800" cy="5404784"/>
          </a:xfrm>
          <a:solidFill>
            <a:schemeClr val="bg1"/>
          </a:solidFill>
          <a:ln w="12700" cmpd="sng">
            <a:solidFill>
              <a:schemeClr val="accent2">
                <a:lumMod val="50000"/>
              </a:schemeClr>
            </a:solidFill>
            <a:prstDash val="solid"/>
          </a:ln>
        </p:spPr>
        <p:txBody>
          <a:bodyPr>
            <a:noAutofit/>
          </a:bodyPr>
          <a:lstStyle/>
          <a:p>
            <a:r>
              <a:rPr lang="en-US" sz="2800" dirty="0" smtClean="0"/>
              <a:t>Entrepreneurship </a:t>
            </a:r>
            <a:r>
              <a:rPr lang="en-US" sz="2800" dirty="0"/>
              <a:t>is defined as the process of </a:t>
            </a:r>
            <a:r>
              <a:rPr lang="en-US" sz="2800" dirty="0" smtClean="0"/>
              <a:t>starting, reviving, reorganizing </a:t>
            </a:r>
            <a:r>
              <a:rPr lang="en-US" sz="2800" dirty="0"/>
              <a:t>a </a:t>
            </a:r>
            <a:r>
              <a:rPr lang="en-US" sz="2800" dirty="0" smtClean="0"/>
              <a:t>business/organization either for profit (business) or non profit (social). </a:t>
            </a:r>
          </a:p>
          <a:p>
            <a:r>
              <a:rPr lang="en-US" sz="2800" dirty="0" smtClean="0"/>
              <a:t>Today</a:t>
            </a:r>
            <a:r>
              <a:rPr lang="en-US" sz="2800" dirty="0"/>
              <a:t>, entrepreneurs are romanticized as being the </a:t>
            </a:r>
            <a:r>
              <a:rPr lang="en-US" sz="2800" dirty="0" smtClean="0"/>
              <a:t>cornerstones and drivers of </a:t>
            </a:r>
            <a:r>
              <a:rPr lang="en-US" sz="2800" dirty="0"/>
              <a:t>successful </a:t>
            </a:r>
            <a:r>
              <a:rPr lang="en-US" sz="2800" dirty="0" smtClean="0"/>
              <a:t>socialist and/or capitalist economies. </a:t>
            </a:r>
            <a:endParaRPr lang="en-US" sz="2800" dirty="0"/>
          </a:p>
          <a:p>
            <a:pPr marL="1196975" indent="-619125">
              <a:buFont typeface="Wingdings" panose="05000000000000000000" pitchFamily="2" charset="2"/>
              <a:buChar char="§"/>
            </a:pPr>
            <a:r>
              <a:rPr lang="en-US" sz="2800" dirty="0" smtClean="0"/>
              <a:t>But </a:t>
            </a:r>
            <a:r>
              <a:rPr lang="en-US" sz="2800" dirty="0"/>
              <a:t>where did entrepreneurship begin? </a:t>
            </a:r>
            <a:endParaRPr lang="en-US" sz="2800" dirty="0" smtClean="0"/>
          </a:p>
          <a:p>
            <a:pPr marL="1196975" indent="-619125">
              <a:buFont typeface="Wingdings" panose="05000000000000000000" pitchFamily="2" charset="2"/>
              <a:buChar char="§"/>
            </a:pPr>
            <a:r>
              <a:rPr lang="en-US" sz="2800" dirty="0" smtClean="0"/>
              <a:t>Who </a:t>
            </a:r>
            <a:r>
              <a:rPr lang="en-US" sz="2800" dirty="0"/>
              <a:t>were the first entrepreneurs</a:t>
            </a:r>
            <a:r>
              <a:rPr lang="en-US" sz="2800" dirty="0" smtClean="0"/>
              <a:t>?</a:t>
            </a:r>
            <a:endParaRPr lang="en-US" sz="2800" dirty="0"/>
          </a:p>
          <a:p>
            <a:r>
              <a:rPr lang="en-US" sz="2800" dirty="0" smtClean="0"/>
              <a:t>In </a:t>
            </a:r>
            <a:r>
              <a:rPr lang="en-US" sz="2800" dirty="0"/>
              <a:t>a global economy dominated by big businesses, what does the future hold for entrepreneurship?</a:t>
            </a:r>
          </a:p>
          <a:p>
            <a:endParaRPr lang="en-US" sz="2800" dirty="0"/>
          </a:p>
        </p:txBody>
      </p:sp>
      <p:sp>
        <p:nvSpPr>
          <p:cNvPr id="9" name="Date Placeholder 8"/>
          <p:cNvSpPr>
            <a:spLocks noGrp="1"/>
          </p:cNvSpPr>
          <p:nvPr>
            <p:ph type="dt" sz="half" idx="10"/>
          </p:nvPr>
        </p:nvSpPr>
        <p:spPr/>
        <p:txBody>
          <a:bodyPr/>
          <a:lstStyle/>
          <a:p>
            <a:fld id="{03251317-6B20-45CC-BB3B-DCCC4C18B02C}"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8</a:t>
            </a:fld>
            <a:endParaRPr lang="en-US"/>
          </a:p>
        </p:txBody>
      </p:sp>
      <p:pic>
        <p:nvPicPr>
          <p:cNvPr id="8" name="Picture 7"/>
          <p:cNvPicPr>
            <a:picLocks noChangeAspect="1"/>
          </p:cNvPicPr>
          <p:nvPr/>
        </p:nvPicPr>
        <p:blipFill rotWithShape="1">
          <a:blip r:embed="rId3"/>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730986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87794"/>
            <a:ext cx="8596668" cy="591778"/>
          </a:xfrm>
        </p:spPr>
        <p:txBody>
          <a:bodyPr>
            <a:normAutofit fontScale="90000"/>
          </a:bodyPr>
          <a:lstStyle/>
          <a:p>
            <a:r>
              <a:rPr lang="en-US" sz="2800" dirty="0" smtClean="0">
                <a:solidFill>
                  <a:schemeClr val="tx1"/>
                </a:solidFill>
              </a:rPr>
              <a:t>2. </a:t>
            </a:r>
            <a:r>
              <a:rPr lang="en-US" sz="2800" dirty="0" smtClean="0">
                <a:solidFill>
                  <a:schemeClr val="accent1"/>
                </a:solidFill>
              </a:rPr>
              <a:t>BRIEF HISTORICAL </a:t>
            </a:r>
            <a:r>
              <a:rPr lang="en-US" sz="2800" dirty="0">
                <a:solidFill>
                  <a:schemeClr val="accent1"/>
                </a:solidFill>
              </a:rPr>
              <a:t>PERSPECTIVES </a:t>
            </a:r>
            <a:r>
              <a:rPr lang="en-US" sz="2800" dirty="0" smtClean="0">
                <a:solidFill>
                  <a:schemeClr val="accent1"/>
                </a:solidFill>
              </a:rPr>
              <a:t>OF </a:t>
            </a:r>
            <a:br>
              <a:rPr lang="en-US" sz="2800" dirty="0" smtClean="0">
                <a:solidFill>
                  <a:schemeClr val="accent1"/>
                </a:solidFill>
              </a:rPr>
            </a:br>
            <a:r>
              <a:rPr lang="en-US" sz="2800" dirty="0" smtClean="0">
                <a:solidFill>
                  <a:schemeClr val="accent1"/>
                </a:solidFill>
              </a:rPr>
              <a:t>MODERN ENTREPRENEURSHIP</a:t>
            </a:r>
            <a:endParaRPr lang="en-US" sz="2800" dirty="0">
              <a:solidFill>
                <a:schemeClr val="accent1"/>
              </a:solidFill>
            </a:endParaRPr>
          </a:p>
        </p:txBody>
      </p:sp>
      <p:pic>
        <p:nvPicPr>
          <p:cNvPr id="13" name="Content Placeholder 12"/>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339142" y="1257490"/>
            <a:ext cx="11164325" cy="4986558"/>
          </a:xfrm>
        </p:spPr>
      </p:pic>
      <p:sp>
        <p:nvSpPr>
          <p:cNvPr id="5" name="Date Placeholder 4"/>
          <p:cNvSpPr>
            <a:spLocks noGrp="1"/>
          </p:cNvSpPr>
          <p:nvPr>
            <p:ph type="dt" sz="half" idx="10"/>
          </p:nvPr>
        </p:nvSpPr>
        <p:spPr/>
        <p:txBody>
          <a:bodyPr/>
          <a:lstStyle/>
          <a:p>
            <a:fld id="{956C8759-EA62-47A2-B7A4-2B79CE0D079A}" type="datetime1">
              <a:rPr lang="en-US" smtClean="0"/>
              <a:t>1/14/2026</a:t>
            </a:fld>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9</a:t>
            </a:fld>
            <a:endParaRPr lang="en-US"/>
          </a:p>
        </p:txBody>
      </p:sp>
      <p:pic>
        <p:nvPicPr>
          <p:cNvPr id="9" name="Picture 8"/>
          <p:cNvPicPr>
            <a:picLocks noChangeAspect="1"/>
          </p:cNvPicPr>
          <p:nvPr/>
        </p:nvPicPr>
        <p:blipFill rotWithShape="1">
          <a:blip r:embed="rId3"/>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3251531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41166"/>
            <a:ext cx="9001125" cy="541764"/>
          </a:xfrm>
        </p:spPr>
        <p:txBody>
          <a:bodyPr>
            <a:normAutofit fontScale="90000"/>
          </a:bodyPr>
          <a:lstStyle/>
          <a:p>
            <a:r>
              <a:rPr lang="en-US" dirty="0" smtClean="0">
                <a:solidFill>
                  <a:schemeClr val="accent1"/>
                </a:solidFill>
              </a:rPr>
              <a:t>HISTORY </a:t>
            </a:r>
            <a:r>
              <a:rPr lang="en-US" dirty="0">
                <a:solidFill>
                  <a:schemeClr val="accent1"/>
                </a:solidFill>
              </a:rPr>
              <a:t>OF ENTREPRENEURSHIP</a:t>
            </a:r>
          </a:p>
        </p:txBody>
      </p:sp>
      <p:sp>
        <p:nvSpPr>
          <p:cNvPr id="3" name="Content Placeholder 2"/>
          <p:cNvSpPr>
            <a:spLocks noGrp="1"/>
          </p:cNvSpPr>
          <p:nvPr>
            <p:ph sz="half" idx="1"/>
          </p:nvPr>
        </p:nvSpPr>
        <p:spPr>
          <a:xfrm>
            <a:off x="609600" y="1184274"/>
            <a:ext cx="10972800" cy="5207563"/>
          </a:xfrm>
          <a:solidFill>
            <a:schemeClr val="bg1"/>
          </a:solidFill>
          <a:ln w="12700" cmpd="sng">
            <a:solidFill>
              <a:schemeClr val="accent2">
                <a:lumMod val="50000"/>
              </a:schemeClr>
            </a:solidFill>
            <a:prstDash val="solid"/>
          </a:ln>
        </p:spPr>
        <p:txBody>
          <a:bodyPr>
            <a:normAutofit lnSpcReduction="10000"/>
          </a:bodyPr>
          <a:lstStyle/>
          <a:p>
            <a:pPr algn="l"/>
            <a:r>
              <a:rPr lang="en-US" sz="2400" dirty="0" smtClean="0"/>
              <a:t>The concept </a:t>
            </a:r>
            <a:r>
              <a:rPr lang="en-US" sz="2400" dirty="0"/>
              <a:t>of entrepreneurship has been </a:t>
            </a:r>
            <a:r>
              <a:rPr lang="en-US" sz="2400" dirty="0" smtClean="0"/>
              <a:t>with humanity </a:t>
            </a:r>
            <a:r>
              <a:rPr lang="en-US" sz="2400" dirty="0"/>
              <a:t>for thousands of </a:t>
            </a:r>
            <a:r>
              <a:rPr lang="en-US" sz="2400" dirty="0" smtClean="0"/>
              <a:t>years (remember the Parable of the talents – Matthew 25:14-30)</a:t>
            </a:r>
            <a:endParaRPr lang="en-US" sz="2400" dirty="0"/>
          </a:p>
          <a:p>
            <a:pPr algn="l"/>
            <a:r>
              <a:rPr lang="en-US" sz="2400" dirty="0"/>
              <a:t>Entrepreneurship and Trade</a:t>
            </a:r>
          </a:p>
          <a:p>
            <a:pPr lvl="1" algn="l"/>
            <a:r>
              <a:rPr lang="en-US" sz="2225" dirty="0"/>
              <a:t>started 20000 years ago in New Guinea exchange of a rock for other basic needs like tools, skins and food</a:t>
            </a:r>
          </a:p>
          <a:p>
            <a:pPr lvl="0" algn="l"/>
            <a:r>
              <a:rPr lang="en-US" sz="2395" dirty="0"/>
              <a:t>Agricultural Revolution (12,000 years ago)</a:t>
            </a:r>
          </a:p>
          <a:p>
            <a:pPr lvl="1" algn="l"/>
            <a:r>
              <a:rPr lang="en-US" sz="2220" dirty="0"/>
              <a:t>Domestication of plants and animals created specialization</a:t>
            </a:r>
          </a:p>
          <a:p>
            <a:pPr lvl="1" algn="l"/>
            <a:r>
              <a:rPr lang="en-US" sz="2220" dirty="0"/>
              <a:t>Specializations included: hunting, gathering, fishing, tool making etc.</a:t>
            </a:r>
          </a:p>
          <a:p>
            <a:pPr lvl="1" algn="l"/>
            <a:r>
              <a:rPr lang="en-US" sz="2220" dirty="0"/>
              <a:t>Increased need to exchange for products hence TRADE</a:t>
            </a:r>
          </a:p>
          <a:p>
            <a:pPr lvl="0" algn="l"/>
            <a:r>
              <a:rPr lang="en-US" sz="2390" dirty="0"/>
              <a:t>Trade Routes: 2000 BCE</a:t>
            </a:r>
          </a:p>
          <a:p>
            <a:pPr lvl="1" algn="l"/>
            <a:r>
              <a:rPr lang="en-US" sz="2215" dirty="0"/>
              <a:t>Creation of cities</a:t>
            </a:r>
          </a:p>
          <a:p>
            <a:pPr lvl="1" algn="l"/>
            <a:r>
              <a:rPr lang="en-US" sz="2215" dirty="0"/>
              <a:t>Profit realized by trading between these </a:t>
            </a:r>
            <a:r>
              <a:rPr lang="en-US" sz="2215" dirty="0" smtClean="0"/>
              <a:t>cities (Merchants of Venice)</a:t>
            </a:r>
            <a:endParaRPr lang="en-US" sz="2215" dirty="0"/>
          </a:p>
          <a:p>
            <a:pPr marL="457200" lvl="1" indent="0" algn="l">
              <a:buNone/>
            </a:pPr>
            <a:endParaRPr lang="en-US" sz="2215" dirty="0"/>
          </a:p>
          <a:p>
            <a:pPr lvl="1" algn="l"/>
            <a:endParaRPr lang="en-US" sz="2220" dirty="0"/>
          </a:p>
          <a:p>
            <a:pPr lvl="1" algn="l"/>
            <a:endParaRPr lang="en-US" sz="2220" dirty="0"/>
          </a:p>
        </p:txBody>
      </p:sp>
      <p:sp>
        <p:nvSpPr>
          <p:cNvPr id="9" name="Date Placeholder 8"/>
          <p:cNvSpPr>
            <a:spLocks noGrp="1"/>
          </p:cNvSpPr>
          <p:nvPr>
            <p:ph type="dt" sz="half" idx="10"/>
          </p:nvPr>
        </p:nvSpPr>
        <p:spPr/>
        <p:txBody>
          <a:bodyPr/>
          <a:lstStyle/>
          <a:p>
            <a:fld id="{BA8AE23C-A7CB-4D06-B28B-219DB6CA09B2}"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10</a:t>
            </a:fld>
            <a:endParaRPr lang="en-US"/>
          </a:p>
        </p:txBody>
      </p:sp>
      <p:pic>
        <p:nvPicPr>
          <p:cNvPr id="10" name="Picture 9"/>
          <p:cNvPicPr>
            <a:picLocks noChangeAspect="1"/>
          </p:cNvPicPr>
          <p:nvPr/>
        </p:nvPicPr>
        <p:blipFill rotWithShape="1">
          <a:blip r:embed="rId3"/>
          <a:srcRect l="5504" t="-2334" r="50294" b="-1"/>
          <a:stretch/>
        </p:blipFill>
        <p:spPr>
          <a:xfrm>
            <a:off x="0" y="0"/>
            <a:ext cx="2663609" cy="1118114"/>
          </a:xfrm>
          <a:prstGeom prst="rect">
            <a:avLst/>
          </a:prstGeom>
          <a:ln w="19050">
            <a:solidFill>
              <a:schemeClr val="accent2">
                <a:lumMod val="50000"/>
              </a:schemeClr>
            </a:solidFill>
          </a:ln>
        </p:spPr>
      </p:pic>
    </p:spTree>
    <p:extLst>
      <p:ext uri="{BB962C8B-B14F-4D97-AF65-F5344CB8AC3E}">
        <p14:creationId xmlns:p14="http://schemas.microsoft.com/office/powerpoint/2010/main" val="28882278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26788"/>
            <a:ext cx="9001125" cy="610780"/>
          </a:xfrm>
        </p:spPr>
        <p:txBody>
          <a:bodyPr>
            <a:normAutofit/>
          </a:bodyPr>
          <a:lstStyle/>
          <a:p>
            <a:r>
              <a:rPr lang="en-US" sz="2800" dirty="0" smtClean="0">
                <a:solidFill>
                  <a:schemeClr val="accent1"/>
                </a:solidFill>
              </a:rPr>
              <a:t>HISTORY </a:t>
            </a:r>
            <a:r>
              <a:rPr lang="en-US" sz="2800" dirty="0">
                <a:solidFill>
                  <a:schemeClr val="accent1"/>
                </a:solidFill>
              </a:rPr>
              <a:t>OF ENTREPRENEURSHIP</a:t>
            </a:r>
          </a:p>
        </p:txBody>
      </p:sp>
      <p:sp>
        <p:nvSpPr>
          <p:cNvPr id="3" name="Content Placeholder 2"/>
          <p:cNvSpPr>
            <a:spLocks noGrp="1"/>
          </p:cNvSpPr>
          <p:nvPr>
            <p:ph sz="half" idx="1"/>
          </p:nvPr>
        </p:nvSpPr>
        <p:spPr>
          <a:xfrm>
            <a:off x="609600" y="1184274"/>
            <a:ext cx="10972800" cy="5189631"/>
          </a:xfrm>
          <a:solidFill>
            <a:schemeClr val="bg1"/>
          </a:solidFill>
          <a:ln w="12700" cmpd="sng">
            <a:solidFill>
              <a:schemeClr val="accent2">
                <a:lumMod val="50000"/>
              </a:schemeClr>
            </a:solidFill>
            <a:prstDash val="solid"/>
          </a:ln>
        </p:spPr>
        <p:txBody>
          <a:bodyPr>
            <a:noAutofit/>
          </a:bodyPr>
          <a:lstStyle/>
          <a:p>
            <a:pPr algn="l"/>
            <a:r>
              <a:rPr lang="en-US" sz="2000" b="1" dirty="0"/>
              <a:t>Innovation of Money: from 2000BCE</a:t>
            </a:r>
          </a:p>
          <a:p>
            <a:pPr lvl="1" algn="l"/>
            <a:r>
              <a:rPr lang="en-US" sz="2000" dirty="0"/>
              <a:t>Limits of barter system: coincidence of wants</a:t>
            </a:r>
          </a:p>
          <a:p>
            <a:pPr lvl="1" algn="l"/>
            <a:r>
              <a:rPr lang="en-US" sz="2000" dirty="0"/>
              <a:t>Early forms were called specie: included shells, tobacco leaves, beads and rocks</a:t>
            </a:r>
          </a:p>
          <a:p>
            <a:pPr lvl="1" algn="l"/>
            <a:r>
              <a:rPr lang="en-US" sz="2000" dirty="0"/>
              <a:t>Created several advantages </a:t>
            </a:r>
            <a:r>
              <a:rPr lang="en-US" sz="2000" dirty="0" err="1"/>
              <a:t>eg</a:t>
            </a:r>
            <a:r>
              <a:rPr lang="en-US" sz="2000" dirty="0"/>
              <a:t> store of value, medium of exchange, long-distance trade</a:t>
            </a:r>
          </a:p>
          <a:p>
            <a:pPr lvl="0" algn="l"/>
            <a:r>
              <a:rPr lang="en-US" sz="2000" b="1" dirty="0"/>
              <a:t>Market Place: Medieval Period (5th -18th century)</a:t>
            </a:r>
          </a:p>
          <a:p>
            <a:pPr lvl="1" algn="l"/>
            <a:r>
              <a:rPr lang="en-US" sz="2000" dirty="0"/>
              <a:t>emergence of central selling point: markets</a:t>
            </a:r>
          </a:p>
          <a:p>
            <a:pPr lvl="1" algn="l"/>
            <a:r>
              <a:rPr lang="en-US" sz="2000" dirty="0"/>
              <a:t>Introduction of banking, guild, importation of raw materials</a:t>
            </a:r>
          </a:p>
          <a:p>
            <a:pPr lvl="0" algn="l"/>
            <a:r>
              <a:rPr lang="en-US" sz="2000" b="1" dirty="0"/>
              <a:t>Mercantilism: 1550-1800</a:t>
            </a:r>
          </a:p>
          <a:p>
            <a:pPr lvl="1" algn="l"/>
            <a:r>
              <a:rPr lang="en-US" sz="2000" dirty="0"/>
              <a:t>use of treasure and gold </a:t>
            </a:r>
            <a:r>
              <a:rPr lang="en-US" sz="2000" dirty="0" smtClean="0"/>
              <a:t>as a </a:t>
            </a:r>
            <a:r>
              <a:rPr lang="en-US" sz="2000" dirty="0"/>
              <a:t>measure </a:t>
            </a:r>
            <a:r>
              <a:rPr lang="en-US" sz="2000" dirty="0" smtClean="0"/>
              <a:t>of </a:t>
            </a:r>
            <a:r>
              <a:rPr lang="en-US" sz="2000" dirty="0"/>
              <a:t>country's wealth</a:t>
            </a:r>
          </a:p>
          <a:p>
            <a:pPr lvl="1" algn="l"/>
            <a:r>
              <a:rPr lang="en-US" sz="2000" dirty="0"/>
              <a:t>silver and gold imports that expanded trade across the Atlantic Ocean. </a:t>
            </a:r>
          </a:p>
          <a:p>
            <a:pPr lvl="1" algn="l"/>
            <a:r>
              <a:rPr lang="en-US" sz="2000" dirty="0"/>
              <a:t>Introduction of accounting </a:t>
            </a:r>
            <a:r>
              <a:rPr lang="en-US" sz="2000" dirty="0" smtClean="0"/>
              <a:t>principles</a:t>
            </a:r>
            <a:endParaRPr lang="en-US" sz="2000" dirty="0"/>
          </a:p>
        </p:txBody>
      </p:sp>
      <p:sp>
        <p:nvSpPr>
          <p:cNvPr id="9" name="Date Placeholder 8"/>
          <p:cNvSpPr>
            <a:spLocks noGrp="1"/>
          </p:cNvSpPr>
          <p:nvPr>
            <p:ph type="dt" sz="half" idx="10"/>
          </p:nvPr>
        </p:nvSpPr>
        <p:spPr>
          <a:xfrm>
            <a:off x="10653104" y="6391838"/>
            <a:ext cx="990599" cy="319361"/>
          </a:xfrm>
        </p:spPr>
        <p:txBody>
          <a:bodyPr/>
          <a:lstStyle/>
          <a:p>
            <a:fld id="{DC332A84-A346-4C31-BAF2-5003BEC566C1}" type="datetime1">
              <a:rPr lang="en-US" sz="900" smtClean="0"/>
              <a:t>1/14/2026</a:t>
            </a:fld>
            <a:endParaRPr lang="en-US" sz="900"/>
          </a:p>
        </p:txBody>
      </p:sp>
      <p:sp>
        <p:nvSpPr>
          <p:cNvPr id="6" name="Slide Number Placeholder 5"/>
          <p:cNvSpPr>
            <a:spLocks noGrp="1"/>
          </p:cNvSpPr>
          <p:nvPr>
            <p:ph type="sldNum" sz="quarter" idx="12"/>
          </p:nvPr>
        </p:nvSpPr>
        <p:spPr>
          <a:xfrm>
            <a:off x="10352540" y="295729"/>
            <a:ext cx="838199" cy="804363"/>
          </a:xfrm>
        </p:spPr>
        <p:txBody>
          <a:bodyPr/>
          <a:lstStyle/>
          <a:p>
            <a:fld id="{9B618960-8005-486C-9A75-10CB2AAC16F9}" type="slidenum">
              <a:rPr lang="en-US" sz="2400" smtClean="0"/>
              <a:t>11</a:t>
            </a:fld>
            <a:endParaRPr lang="en-US" sz="2400"/>
          </a:p>
        </p:txBody>
      </p:sp>
      <p:pic>
        <p:nvPicPr>
          <p:cNvPr id="10" name="Picture 9"/>
          <p:cNvPicPr>
            <a:picLocks noChangeAspect="1"/>
          </p:cNvPicPr>
          <p:nvPr/>
        </p:nvPicPr>
        <p:blipFill rotWithShape="1">
          <a:blip r:embed="rId3"/>
          <a:srcRect l="5504" t="-2334" r="50294" b="-1"/>
          <a:stretch/>
        </p:blipFill>
        <p:spPr>
          <a:xfrm>
            <a:off x="0" y="0"/>
            <a:ext cx="2663609" cy="1171532"/>
          </a:xfrm>
          <a:prstGeom prst="rect">
            <a:avLst/>
          </a:prstGeom>
          <a:ln w="19050">
            <a:solidFill>
              <a:schemeClr val="accent2">
                <a:lumMod val="50000"/>
              </a:schemeClr>
            </a:solidFill>
          </a:ln>
        </p:spPr>
      </p:pic>
    </p:spTree>
    <p:extLst>
      <p:ext uri="{BB962C8B-B14F-4D97-AF65-F5344CB8AC3E}">
        <p14:creationId xmlns:p14="http://schemas.microsoft.com/office/powerpoint/2010/main" val="1336642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2578" y="4264"/>
            <a:ext cx="9001125" cy="582930"/>
          </a:xfrm>
        </p:spPr>
        <p:txBody>
          <a:bodyPr>
            <a:normAutofit fontScale="90000"/>
          </a:bodyPr>
          <a:lstStyle/>
          <a:p>
            <a:r>
              <a:rPr lang="en-US" dirty="0">
                <a:solidFill>
                  <a:schemeClr val="accent1"/>
                </a:solidFill>
              </a:rPr>
              <a:t> </a:t>
            </a:r>
            <a:r>
              <a:rPr lang="en-US" b="1" dirty="0" smtClean="0">
                <a:solidFill>
                  <a:schemeClr val="accent1"/>
                </a:solidFill>
              </a:rPr>
              <a:t>HISTORY </a:t>
            </a:r>
            <a:r>
              <a:rPr lang="en-US" b="1" dirty="0">
                <a:solidFill>
                  <a:schemeClr val="accent1"/>
                </a:solidFill>
              </a:rPr>
              <a:t>OF ENTREPRENEURSHIP</a:t>
            </a:r>
          </a:p>
        </p:txBody>
      </p:sp>
      <p:sp>
        <p:nvSpPr>
          <p:cNvPr id="3" name="Content Placeholder 2"/>
          <p:cNvSpPr>
            <a:spLocks noGrp="1"/>
          </p:cNvSpPr>
          <p:nvPr>
            <p:ph sz="half" idx="1"/>
          </p:nvPr>
        </p:nvSpPr>
        <p:spPr>
          <a:xfrm>
            <a:off x="609600" y="1184274"/>
            <a:ext cx="10972800" cy="5277355"/>
          </a:xfrm>
          <a:solidFill>
            <a:schemeClr val="bg1"/>
          </a:solidFill>
          <a:ln w="12700" cmpd="sng">
            <a:solidFill>
              <a:schemeClr val="accent2">
                <a:lumMod val="50000"/>
              </a:schemeClr>
            </a:solidFill>
            <a:prstDash val="solid"/>
          </a:ln>
        </p:spPr>
        <p:txBody>
          <a:bodyPr>
            <a:noAutofit/>
          </a:bodyPr>
          <a:lstStyle/>
          <a:p>
            <a:pPr algn="l"/>
            <a:r>
              <a:rPr lang="en-US" sz="1600" b="1" dirty="0"/>
              <a:t>Machines and Markets: 1800 onwards</a:t>
            </a:r>
          </a:p>
          <a:p>
            <a:pPr lvl="1" algn="l"/>
            <a:r>
              <a:rPr lang="en-US" sz="2000" dirty="0"/>
              <a:t>Introduction of Capitalism: Adam Smith</a:t>
            </a:r>
          </a:p>
          <a:p>
            <a:pPr lvl="1" algn="l"/>
            <a:r>
              <a:rPr lang="en-US" sz="2000" dirty="0"/>
              <a:t>Death of Mercantilism</a:t>
            </a:r>
          </a:p>
          <a:p>
            <a:pPr lvl="0" algn="l"/>
            <a:r>
              <a:rPr lang="en-US" sz="1600" b="1" dirty="0"/>
              <a:t>Industrial Age: From 18th century</a:t>
            </a:r>
          </a:p>
          <a:p>
            <a:pPr lvl="1" algn="l"/>
            <a:r>
              <a:rPr lang="en-US" sz="2000" dirty="0"/>
              <a:t>Large scale production</a:t>
            </a:r>
          </a:p>
          <a:p>
            <a:pPr lvl="1" algn="l"/>
            <a:r>
              <a:rPr lang="en-US" sz="2000" dirty="0"/>
              <a:t>Availability of energy - electricity, steam and the engine</a:t>
            </a:r>
          </a:p>
          <a:p>
            <a:pPr lvl="1" algn="l"/>
            <a:r>
              <a:rPr lang="en-US" sz="2000" dirty="0"/>
              <a:t>Availability of Labor - migration to industrial cities</a:t>
            </a:r>
          </a:p>
          <a:p>
            <a:pPr lvl="0" algn="l"/>
            <a:r>
              <a:rPr lang="en-US" sz="1600" b="1" dirty="0"/>
              <a:t>Post-World War 2: 45 Onwards</a:t>
            </a:r>
          </a:p>
          <a:p>
            <a:pPr lvl="1" algn="l"/>
            <a:r>
              <a:rPr lang="en-US" sz="2000" dirty="0"/>
              <a:t>Advent of Globalization - better shipping and communication enhanced sales</a:t>
            </a:r>
          </a:p>
          <a:p>
            <a:pPr lvl="1" algn="l"/>
            <a:r>
              <a:rPr lang="en-US" sz="2000" dirty="0"/>
              <a:t>Micro-economic factors - more people owning cars, televisions </a:t>
            </a:r>
            <a:r>
              <a:rPr lang="en-US" sz="2000" dirty="0" err="1"/>
              <a:t>etc</a:t>
            </a:r>
            <a:endParaRPr lang="en-US" sz="2000" dirty="0"/>
          </a:p>
          <a:p>
            <a:pPr lvl="0" algn="l"/>
            <a:r>
              <a:rPr lang="en-US" sz="1600" b="1" dirty="0">
                <a:solidFill>
                  <a:srgbClr val="00B050"/>
                </a:solidFill>
              </a:rPr>
              <a:t>Modern entrepreneurship: Now</a:t>
            </a:r>
          </a:p>
          <a:p>
            <a:pPr lvl="1" algn="l"/>
            <a:r>
              <a:rPr lang="en-US" sz="2000" dirty="0"/>
              <a:t>modern infrastructure such as communication - global competition</a:t>
            </a:r>
          </a:p>
          <a:p>
            <a:pPr lvl="1" algn="l"/>
            <a:r>
              <a:rPr lang="en-US" sz="2000" dirty="0" smtClean="0"/>
              <a:t>E-commerce</a:t>
            </a:r>
            <a:endParaRPr lang="en-US" sz="2000" dirty="0"/>
          </a:p>
        </p:txBody>
      </p:sp>
      <p:sp>
        <p:nvSpPr>
          <p:cNvPr id="9" name="Date Placeholder 8"/>
          <p:cNvSpPr>
            <a:spLocks noGrp="1"/>
          </p:cNvSpPr>
          <p:nvPr>
            <p:ph type="dt" sz="half" idx="10"/>
          </p:nvPr>
        </p:nvSpPr>
        <p:spPr/>
        <p:txBody>
          <a:bodyPr/>
          <a:lstStyle/>
          <a:p>
            <a:fld id="{E670AB8C-1A5D-4342-BC9B-04DD351D4371}"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12</a:t>
            </a:fld>
            <a:endParaRPr lang="en-US"/>
          </a:p>
        </p:txBody>
      </p:sp>
      <p:pic>
        <p:nvPicPr>
          <p:cNvPr id="8" name="Picture 7"/>
          <p:cNvPicPr>
            <a:picLocks noChangeAspect="1"/>
          </p:cNvPicPr>
          <p:nvPr/>
        </p:nvPicPr>
        <p:blipFill rotWithShape="1">
          <a:blip r:embed="rId3"/>
          <a:srcRect l="5504" t="-2334" r="50294" b="-1"/>
          <a:stretch/>
        </p:blipFill>
        <p:spPr>
          <a:xfrm>
            <a:off x="0" y="-65893"/>
            <a:ext cx="2663609" cy="720317"/>
          </a:xfrm>
          <a:prstGeom prst="rect">
            <a:avLst/>
          </a:prstGeom>
          <a:ln w="19050">
            <a:solidFill>
              <a:schemeClr val="accent2">
                <a:lumMod val="50000"/>
              </a:schemeClr>
            </a:solidFill>
          </a:ln>
        </p:spPr>
      </p:pic>
    </p:spTree>
    <p:extLst>
      <p:ext uri="{BB962C8B-B14F-4D97-AF65-F5344CB8AC3E}">
        <p14:creationId xmlns:p14="http://schemas.microsoft.com/office/powerpoint/2010/main" val="405262319"/>
      </p:ext>
    </p:extLst>
  </p:cSld>
  <p:clrMapOvr>
    <a:masterClrMapping/>
  </p:clrMapOvr>
  <mc:AlternateContent xmlns:mc="http://schemas.openxmlformats.org/markup-compatibility/2006" xmlns:p14="http://schemas.microsoft.com/office/powerpoint/2010/main">
    <mc:Choice Requires="p14">
      <p:transition>
        <p:blinds/>
      </p:transition>
    </mc:Choice>
    <mc:Fallback xmlns="">
      <p:transition>
        <p:blind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28816"/>
            <a:ext cx="9001125" cy="582930"/>
          </a:xfrm>
        </p:spPr>
        <p:txBody>
          <a:bodyPr>
            <a:noAutofit/>
          </a:bodyPr>
          <a:lstStyle/>
          <a:p>
            <a:pPr algn="l"/>
            <a:r>
              <a:rPr lang="en-US" sz="2800" dirty="0" smtClean="0">
                <a:solidFill>
                  <a:schemeClr val="tx1"/>
                </a:solidFill>
              </a:rPr>
              <a:t>3. </a:t>
            </a:r>
            <a:r>
              <a:rPr lang="en-US" sz="2800" dirty="0" smtClean="0">
                <a:solidFill>
                  <a:schemeClr val="accent1"/>
                </a:solidFill>
              </a:rPr>
              <a:t>KEY THEORIES </a:t>
            </a:r>
            <a:r>
              <a:rPr lang="en-US" sz="2800" dirty="0">
                <a:solidFill>
                  <a:schemeClr val="accent1"/>
                </a:solidFill>
              </a:rPr>
              <a:t>OF ENTREPRENEURSHIP</a:t>
            </a:r>
          </a:p>
        </p:txBody>
      </p:sp>
      <p:sp>
        <p:nvSpPr>
          <p:cNvPr id="3" name="Content Placeholder 2"/>
          <p:cNvSpPr>
            <a:spLocks noGrp="1"/>
          </p:cNvSpPr>
          <p:nvPr>
            <p:ph sz="half" idx="1"/>
          </p:nvPr>
        </p:nvSpPr>
        <p:spPr>
          <a:xfrm>
            <a:off x="811368" y="1184274"/>
            <a:ext cx="10771031" cy="5207563"/>
          </a:xfrm>
          <a:solidFill>
            <a:schemeClr val="bg1"/>
          </a:solidFill>
          <a:ln w="12700" cmpd="sng">
            <a:solidFill>
              <a:schemeClr val="accent2">
                <a:lumMod val="50000"/>
              </a:schemeClr>
            </a:solidFill>
            <a:prstDash val="solid"/>
          </a:ln>
        </p:spPr>
        <p:txBody>
          <a:bodyPr>
            <a:noAutofit/>
          </a:bodyPr>
          <a:lstStyle/>
          <a:p>
            <a:r>
              <a:rPr lang="en-US" sz="2800" dirty="0" smtClean="0"/>
              <a:t>These are the key theories that underpin entrepreneurship:</a:t>
            </a:r>
          </a:p>
          <a:p>
            <a:pPr marL="457200" indent="-457200" algn="l">
              <a:buAutoNum type="arabicPeriod"/>
            </a:pPr>
            <a:r>
              <a:rPr lang="en-US" sz="2800" dirty="0" smtClean="0"/>
              <a:t>Economic theories</a:t>
            </a:r>
          </a:p>
          <a:p>
            <a:pPr marL="457200" indent="-457200" algn="l">
              <a:buAutoNum type="arabicPeriod"/>
            </a:pPr>
            <a:r>
              <a:rPr lang="en-US" sz="2800" dirty="0" smtClean="0"/>
              <a:t>Sociological</a:t>
            </a:r>
          </a:p>
          <a:p>
            <a:pPr marL="457200" indent="-457200" algn="l">
              <a:buAutoNum type="arabicPeriod"/>
            </a:pPr>
            <a:r>
              <a:rPr lang="en-US" sz="2800" dirty="0" smtClean="0"/>
              <a:t>Entrepreneurship Innovation</a:t>
            </a:r>
          </a:p>
          <a:p>
            <a:pPr marL="457200" indent="-457200" algn="l">
              <a:buAutoNum type="arabicPeriod"/>
            </a:pPr>
            <a:r>
              <a:rPr lang="en-US" sz="2800" dirty="0" smtClean="0"/>
              <a:t>Psychological theory</a:t>
            </a:r>
          </a:p>
          <a:p>
            <a:pPr marL="457200" indent="-457200">
              <a:buFontTx/>
              <a:buAutoNum type="arabicPeriod"/>
            </a:pPr>
            <a:r>
              <a:rPr lang="en-US" sz="2800" dirty="0"/>
              <a:t>High Achievement </a:t>
            </a:r>
            <a:r>
              <a:rPr lang="en-US" sz="2800" dirty="0" smtClean="0"/>
              <a:t>Theory</a:t>
            </a:r>
          </a:p>
          <a:p>
            <a:pPr marL="457200" indent="-457200">
              <a:buFontTx/>
              <a:buAutoNum type="arabicPeriod"/>
            </a:pPr>
            <a:r>
              <a:rPr lang="en-US" sz="2800" dirty="0" smtClean="0"/>
              <a:t>Resource based</a:t>
            </a:r>
          </a:p>
          <a:p>
            <a:pPr marL="457200" indent="-457200">
              <a:buFontTx/>
              <a:buAutoNum type="arabicPeriod"/>
            </a:pPr>
            <a:r>
              <a:rPr lang="en-US" sz="2800" dirty="0"/>
              <a:t>Opportunity Based</a:t>
            </a:r>
          </a:p>
          <a:p>
            <a:pPr marL="457200" indent="-457200">
              <a:buFontTx/>
              <a:buAutoNum type="arabicPeriod"/>
            </a:pPr>
            <a:r>
              <a:rPr lang="en-US" sz="2800" dirty="0"/>
              <a:t>Status withdrawal </a:t>
            </a:r>
            <a:r>
              <a:rPr lang="en-US" sz="2800" dirty="0" smtClean="0"/>
              <a:t>theory</a:t>
            </a:r>
            <a:endParaRPr lang="en-US" sz="2800" dirty="0"/>
          </a:p>
        </p:txBody>
      </p:sp>
      <p:sp>
        <p:nvSpPr>
          <p:cNvPr id="9" name="Date Placeholder 8"/>
          <p:cNvSpPr>
            <a:spLocks noGrp="1"/>
          </p:cNvSpPr>
          <p:nvPr>
            <p:ph type="dt" sz="half" idx="10"/>
          </p:nvPr>
        </p:nvSpPr>
        <p:spPr/>
        <p:txBody>
          <a:bodyPr/>
          <a:lstStyle/>
          <a:p>
            <a:fld id="{706BF31F-0D24-469C-95C0-088E792B595E}"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13</a:t>
            </a:fld>
            <a:endParaRPr lang="en-US"/>
          </a:p>
        </p:txBody>
      </p:sp>
      <p:pic>
        <p:nvPicPr>
          <p:cNvPr id="10" name="Picture 9"/>
          <p:cNvPicPr>
            <a:picLocks noChangeAspect="1"/>
          </p:cNvPicPr>
          <p:nvPr/>
        </p:nvPicPr>
        <p:blipFill rotWithShape="1">
          <a:blip r:embed="rId3"/>
          <a:srcRect l="5504" t="-2334" r="50294" b="-1"/>
          <a:stretch/>
        </p:blipFill>
        <p:spPr>
          <a:xfrm>
            <a:off x="0" y="0"/>
            <a:ext cx="2663609" cy="1118114"/>
          </a:xfrm>
          <a:prstGeom prst="rect">
            <a:avLst/>
          </a:prstGeom>
          <a:ln w="19050">
            <a:solidFill>
              <a:schemeClr val="accent2">
                <a:lumMod val="50000"/>
              </a:schemeClr>
            </a:solidFill>
          </a:ln>
        </p:spPr>
      </p:pic>
    </p:spTree>
    <p:extLst>
      <p:ext uri="{BB962C8B-B14F-4D97-AF65-F5344CB8AC3E}">
        <p14:creationId xmlns:p14="http://schemas.microsoft.com/office/powerpoint/2010/main" val="1566902306"/>
      </p:ext>
    </p:extLst>
  </p:cSld>
  <p:clrMapOvr>
    <a:masterClrMapping/>
  </p:clrMapOvr>
  <mc:AlternateContent xmlns:mc="http://schemas.openxmlformats.org/markup-compatibility/2006" xmlns:p14="http://schemas.microsoft.com/office/powerpoint/2010/main">
    <mc:Choice Requires="p14">
      <p:transition>
        <p:blinds/>
      </p:transition>
    </mc:Choice>
    <mc:Fallback xmlns="">
      <p:transition>
        <p:blind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4670" y="0"/>
            <a:ext cx="8596668" cy="645459"/>
          </a:xfrm>
        </p:spPr>
        <p:txBody>
          <a:bodyPr>
            <a:normAutofit/>
          </a:bodyPr>
          <a:lstStyle/>
          <a:p>
            <a:pPr algn="l"/>
            <a:r>
              <a:rPr lang="en-US" sz="2800" b="1" dirty="0" smtClean="0">
                <a:solidFill>
                  <a:schemeClr val="accent1"/>
                </a:solidFill>
              </a:rPr>
              <a:t>KEY </a:t>
            </a:r>
            <a:r>
              <a:rPr lang="en-US" sz="2800" b="1" dirty="0">
                <a:solidFill>
                  <a:schemeClr val="accent1"/>
                </a:solidFill>
              </a:rPr>
              <a:t>THEORIES OF ENTREPRENEURSHIP</a:t>
            </a:r>
          </a:p>
        </p:txBody>
      </p:sp>
      <p:sp>
        <p:nvSpPr>
          <p:cNvPr id="3" name="Content Placeholder 2"/>
          <p:cNvSpPr>
            <a:spLocks noGrp="1"/>
          </p:cNvSpPr>
          <p:nvPr>
            <p:ph sz="half" idx="1"/>
          </p:nvPr>
        </p:nvSpPr>
        <p:spPr>
          <a:xfrm>
            <a:off x="609600" y="1118113"/>
            <a:ext cx="10972800" cy="5484393"/>
          </a:xfrm>
          <a:solidFill>
            <a:schemeClr val="bg1"/>
          </a:solidFill>
          <a:ln>
            <a:solidFill>
              <a:schemeClr val="accent2">
                <a:lumMod val="50000"/>
              </a:schemeClr>
            </a:solidFill>
          </a:ln>
        </p:spPr>
        <p:txBody>
          <a:bodyPr>
            <a:normAutofit fontScale="92500" lnSpcReduction="10000"/>
          </a:bodyPr>
          <a:lstStyle/>
          <a:p>
            <a:r>
              <a:rPr lang="en-US" sz="2600" i="1" dirty="0" smtClean="0"/>
              <a:t>A</a:t>
            </a:r>
            <a:r>
              <a:rPr lang="en-US" sz="2600" i="1" dirty="0"/>
              <a:t> </a:t>
            </a:r>
            <a:r>
              <a:rPr lang="en-US" sz="2600" b="1" i="1" dirty="0"/>
              <a:t>theory</a:t>
            </a:r>
            <a:r>
              <a:rPr lang="en-US" sz="2600" i="1" dirty="0"/>
              <a:t> is a formal idea or set of ideas that is intended to explain </a:t>
            </a:r>
            <a:r>
              <a:rPr lang="en-US" sz="2600" i="1" dirty="0" smtClean="0"/>
              <a:t>something; A set of assumptions; propositions/accepted facts that attempts to provide a rational explanation of cause and effect.</a:t>
            </a:r>
          </a:p>
          <a:p>
            <a:pPr marL="457200" indent="-457200">
              <a:buAutoNum type="arabicPeriod"/>
            </a:pPr>
            <a:r>
              <a:rPr lang="en-US" sz="2035" b="1" dirty="0" smtClean="0"/>
              <a:t>Economic </a:t>
            </a:r>
            <a:r>
              <a:rPr lang="en-US" sz="2035" b="1" dirty="0"/>
              <a:t>Theories</a:t>
            </a:r>
          </a:p>
          <a:p>
            <a:pPr lvl="1"/>
            <a:r>
              <a:rPr lang="en-US" sz="1885" dirty="0"/>
              <a:t>the economy and entrepreneurship are closely linked together. </a:t>
            </a:r>
          </a:p>
          <a:p>
            <a:pPr lvl="1"/>
            <a:r>
              <a:rPr lang="en-US" sz="1890" dirty="0"/>
              <a:t>difficult for entrepreneurs to realize growth when the economy is doing poorly</a:t>
            </a:r>
          </a:p>
          <a:p>
            <a:pPr lvl="1"/>
            <a:r>
              <a:rPr lang="en-US" sz="1895" dirty="0"/>
              <a:t>entrepreneurs find motivation in the presence of economic incentives</a:t>
            </a:r>
          </a:p>
          <a:p>
            <a:pPr marL="457200" lvl="0" indent="-457200">
              <a:buAutoNum type="arabicPeriod"/>
            </a:pPr>
            <a:r>
              <a:rPr lang="en-US" sz="2040" b="1" dirty="0"/>
              <a:t>Sociological</a:t>
            </a:r>
          </a:p>
          <a:p>
            <a:pPr lvl="1"/>
            <a:r>
              <a:rPr lang="en-US" sz="1890" dirty="0"/>
              <a:t>success of an entrepreneur is affected by their social culture.</a:t>
            </a:r>
          </a:p>
          <a:p>
            <a:pPr lvl="1"/>
            <a:r>
              <a:rPr lang="en-US" sz="1890" dirty="0"/>
              <a:t>social </a:t>
            </a:r>
            <a:r>
              <a:rPr lang="en-US" sz="1890" dirty="0" smtClean="0"/>
              <a:t>aspects </a:t>
            </a:r>
            <a:r>
              <a:rPr lang="en-US" sz="1890" dirty="0"/>
              <a:t>include: the social values, customs, taboos, religious beliefs and other cultural activities</a:t>
            </a:r>
          </a:p>
          <a:p>
            <a:pPr marL="514350" lvl="0" indent="-514350">
              <a:buAutoNum type="arabicPeriod"/>
            </a:pPr>
            <a:r>
              <a:rPr lang="en-US" sz="2035" b="1" dirty="0"/>
              <a:t>Entrepreneurship Innovation</a:t>
            </a:r>
          </a:p>
          <a:p>
            <a:pPr lvl="1"/>
            <a:r>
              <a:rPr lang="en-US" sz="1885" dirty="0"/>
              <a:t>are able to cause development in the economy and the society at large.</a:t>
            </a:r>
          </a:p>
          <a:p>
            <a:pPr lvl="1"/>
            <a:r>
              <a:rPr lang="en-US" sz="1885" dirty="0"/>
              <a:t>an entrepreneur introduces a new production </a:t>
            </a:r>
            <a:r>
              <a:rPr lang="en-US" sz="1885" dirty="0" smtClean="0"/>
              <a:t>method or opens </a:t>
            </a:r>
            <a:r>
              <a:rPr lang="en-US" sz="1885" dirty="0"/>
              <a:t>a new market</a:t>
            </a:r>
          </a:p>
          <a:p>
            <a:pPr lvl="1"/>
            <a:r>
              <a:rPr lang="en-US" sz="1885" dirty="0"/>
              <a:t>discover new sources of raw materials</a:t>
            </a:r>
          </a:p>
          <a:p>
            <a:pPr marL="0" indent="0">
              <a:buNone/>
            </a:pPr>
            <a:endParaRPr lang="en-US" dirty="0"/>
          </a:p>
        </p:txBody>
      </p:sp>
      <p:sp>
        <p:nvSpPr>
          <p:cNvPr id="5" name="Date Placeholder 4"/>
          <p:cNvSpPr>
            <a:spLocks noGrp="1"/>
          </p:cNvSpPr>
          <p:nvPr>
            <p:ph type="dt" sz="half" idx="10"/>
          </p:nvPr>
        </p:nvSpPr>
        <p:spPr/>
        <p:txBody>
          <a:bodyPr/>
          <a:lstStyle/>
          <a:p>
            <a:fld id="{203F7BD1-6935-42E7-9772-9EE0B1FD9D14}" type="datetime1">
              <a:rPr lang="en-US" smtClean="0"/>
              <a:t>1/14/2026</a:t>
            </a:fld>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14</a:t>
            </a:fld>
            <a:endParaRPr lang="en-US"/>
          </a:p>
        </p:txBody>
      </p:sp>
      <p:pic>
        <p:nvPicPr>
          <p:cNvPr id="9" name="Picture 8"/>
          <p:cNvPicPr>
            <a:picLocks noChangeAspect="1"/>
          </p:cNvPicPr>
          <p:nvPr/>
        </p:nvPicPr>
        <p:blipFill rotWithShape="1">
          <a:blip r:embed="rId2"/>
          <a:srcRect l="5504" t="-2334" r="50294" b="-1"/>
          <a:stretch/>
        </p:blipFill>
        <p:spPr>
          <a:xfrm>
            <a:off x="0" y="0"/>
            <a:ext cx="2663609" cy="1118114"/>
          </a:xfrm>
          <a:prstGeom prst="rect">
            <a:avLst/>
          </a:prstGeom>
          <a:ln w="19050">
            <a:solidFill>
              <a:schemeClr val="accent2">
                <a:lumMod val="50000"/>
              </a:schemeClr>
            </a:solidFill>
          </a:ln>
        </p:spPr>
      </p:pic>
    </p:spTree>
    <p:extLst>
      <p:ext uri="{BB962C8B-B14F-4D97-AF65-F5344CB8AC3E}">
        <p14:creationId xmlns:p14="http://schemas.microsoft.com/office/powerpoint/2010/main" val="17070896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229568"/>
            <a:ext cx="9001125" cy="582930"/>
          </a:xfrm>
        </p:spPr>
        <p:txBody>
          <a:bodyPr>
            <a:noAutofit/>
          </a:bodyPr>
          <a:lstStyle/>
          <a:p>
            <a:pPr algn="l"/>
            <a:r>
              <a:rPr lang="en-US" sz="2800" b="1" dirty="0" smtClean="0">
                <a:solidFill>
                  <a:schemeClr val="accent1"/>
                </a:solidFill>
                <a:sym typeface="+mn-ea"/>
              </a:rPr>
              <a:t>KEY THEORIES </a:t>
            </a:r>
            <a:r>
              <a:rPr lang="en-US" sz="2800" b="1" dirty="0">
                <a:solidFill>
                  <a:schemeClr val="accent1"/>
                </a:solidFill>
                <a:sym typeface="+mn-ea"/>
              </a:rPr>
              <a:t>OF ENTREPRENEURSHIP</a:t>
            </a:r>
            <a:r>
              <a:rPr lang="en-US" sz="2800" dirty="0">
                <a:solidFill>
                  <a:schemeClr val="accent1"/>
                </a:solidFill>
              </a:rPr>
              <a:t/>
            </a:r>
            <a:br>
              <a:rPr lang="en-US" sz="2800" dirty="0">
                <a:solidFill>
                  <a:schemeClr val="accent1"/>
                </a:solidFill>
              </a:rPr>
            </a:br>
            <a:endParaRPr lang="en-US" sz="2800" dirty="0">
              <a:solidFill>
                <a:schemeClr val="accent1"/>
              </a:solidFill>
            </a:endParaRPr>
          </a:p>
        </p:txBody>
      </p:sp>
      <p:sp>
        <p:nvSpPr>
          <p:cNvPr id="3" name="Content Placeholder 2"/>
          <p:cNvSpPr>
            <a:spLocks noGrp="1"/>
          </p:cNvSpPr>
          <p:nvPr>
            <p:ph sz="half" idx="1"/>
          </p:nvPr>
        </p:nvSpPr>
        <p:spPr>
          <a:xfrm>
            <a:off x="195774" y="1184275"/>
            <a:ext cx="11447929" cy="5458481"/>
          </a:xfrm>
          <a:solidFill>
            <a:schemeClr val="bg1"/>
          </a:solidFill>
          <a:ln w="12700" cmpd="sng">
            <a:solidFill>
              <a:schemeClr val="accent2">
                <a:lumMod val="50000"/>
              </a:schemeClr>
            </a:solidFill>
            <a:prstDash val="solid"/>
          </a:ln>
        </p:spPr>
        <p:txBody>
          <a:bodyPr>
            <a:normAutofit lnSpcReduction="10000"/>
          </a:bodyPr>
          <a:lstStyle/>
          <a:p>
            <a:pPr marL="457200" indent="-457200" algn="l">
              <a:buFont typeface="+mj-lt"/>
              <a:buAutoNum type="arabicPeriod" startAt="4"/>
            </a:pPr>
            <a:r>
              <a:rPr lang="en-US" sz="2035" b="1" dirty="0"/>
              <a:t>Psychological Theory</a:t>
            </a:r>
          </a:p>
          <a:p>
            <a:pPr lvl="1" algn="l"/>
            <a:r>
              <a:rPr lang="en-US" sz="1885" dirty="0"/>
              <a:t>has necessary psychological characteristics</a:t>
            </a:r>
          </a:p>
          <a:p>
            <a:pPr lvl="1" algn="l"/>
            <a:r>
              <a:rPr lang="en-US" sz="1885" dirty="0"/>
              <a:t>include having a vision, being able to face opposition and having the need to achieve highly</a:t>
            </a:r>
          </a:p>
          <a:p>
            <a:pPr lvl="1" algn="l"/>
            <a:r>
              <a:rPr lang="en-US" sz="1885" dirty="0"/>
              <a:t>possess these traits during their upbringing, when they excel, when they are self-reliant</a:t>
            </a:r>
          </a:p>
          <a:p>
            <a:pPr marL="457200" lvl="0" indent="-457200" algn="l">
              <a:buFont typeface="+mj-lt"/>
              <a:buAutoNum type="arabicPeriod" startAt="5"/>
            </a:pPr>
            <a:r>
              <a:rPr lang="en-US" sz="2030" b="1" dirty="0" smtClean="0"/>
              <a:t>High Achievement Theory</a:t>
            </a:r>
          </a:p>
          <a:p>
            <a:pPr lvl="1" algn="l"/>
            <a:r>
              <a:rPr lang="en-US" sz="1885" dirty="0" smtClean="0"/>
              <a:t> must have a need for achievement, a need for affiliation and a need for power</a:t>
            </a:r>
          </a:p>
          <a:p>
            <a:pPr marL="457200" lvl="0" indent="-457200" algn="l">
              <a:buFont typeface="+mj-lt"/>
              <a:buAutoNum type="arabicPeriod" startAt="6"/>
            </a:pPr>
            <a:r>
              <a:rPr lang="en-US" sz="2030" b="1" dirty="0" smtClean="0"/>
              <a:t>Resource-based</a:t>
            </a:r>
            <a:endParaRPr lang="en-US" sz="2030" b="1" dirty="0"/>
          </a:p>
          <a:p>
            <a:pPr lvl="1" algn="l"/>
            <a:r>
              <a:rPr lang="en-US" sz="1885" dirty="0"/>
              <a:t>require resources to go about their businesses </a:t>
            </a:r>
            <a:r>
              <a:rPr lang="en-US" sz="1885" dirty="0" err="1"/>
              <a:t>eg</a:t>
            </a:r>
            <a:r>
              <a:rPr lang="en-US" sz="1885" dirty="0"/>
              <a:t> capital, information, education, leadership</a:t>
            </a:r>
          </a:p>
          <a:p>
            <a:pPr lvl="1" algn="l"/>
            <a:r>
              <a:rPr lang="en-US" sz="1885" dirty="0"/>
              <a:t>Failure to access resources can cause their efforts to become futile</a:t>
            </a:r>
          </a:p>
          <a:p>
            <a:pPr marL="457200" lvl="0" indent="-457200" algn="l">
              <a:buFont typeface="+mj-lt"/>
              <a:buAutoNum type="arabicPeriod" startAt="7"/>
            </a:pPr>
            <a:r>
              <a:rPr lang="en-US" sz="2030" b="1" dirty="0"/>
              <a:t>Opportunity Based</a:t>
            </a:r>
          </a:p>
          <a:p>
            <a:pPr lvl="1" algn="l"/>
            <a:r>
              <a:rPr lang="en-US" sz="1885" dirty="0"/>
              <a:t>Entrepreneurs grab any opportunity they come across</a:t>
            </a:r>
          </a:p>
          <a:p>
            <a:pPr lvl="1" algn="l"/>
            <a:r>
              <a:rPr lang="en-US" sz="1885" dirty="0"/>
              <a:t>opportunities are made available through the changes in technology, society or culture</a:t>
            </a:r>
          </a:p>
          <a:p>
            <a:pPr marL="457200" lvl="0" indent="-457200" algn="l">
              <a:buFont typeface="+mj-lt"/>
              <a:buAutoNum type="arabicPeriod" startAt="8"/>
            </a:pPr>
            <a:r>
              <a:rPr lang="en-US" sz="2030" b="1" dirty="0"/>
              <a:t>Status withdrawal theory</a:t>
            </a:r>
            <a:r>
              <a:rPr lang="en-US" sz="2030" dirty="0"/>
              <a:t>: </a:t>
            </a:r>
            <a:r>
              <a:rPr lang="en-US" sz="1800" dirty="0"/>
              <a:t>aggressiveness can be created when people of a certain class lose the prestige they had or belong to a minority</a:t>
            </a:r>
          </a:p>
        </p:txBody>
      </p:sp>
      <p:sp>
        <p:nvSpPr>
          <p:cNvPr id="9" name="Date Placeholder 8"/>
          <p:cNvSpPr>
            <a:spLocks noGrp="1"/>
          </p:cNvSpPr>
          <p:nvPr>
            <p:ph type="dt" sz="half" idx="10"/>
          </p:nvPr>
        </p:nvSpPr>
        <p:spPr/>
        <p:txBody>
          <a:bodyPr/>
          <a:lstStyle/>
          <a:p>
            <a:fld id="{2463C625-D0A4-45C4-B44C-779668D469A9}"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15</a:t>
            </a:fld>
            <a:endParaRPr lang="en-US"/>
          </a:p>
        </p:txBody>
      </p:sp>
      <p:pic>
        <p:nvPicPr>
          <p:cNvPr id="10" name="Picture 9"/>
          <p:cNvPicPr>
            <a:picLocks noChangeAspect="1"/>
          </p:cNvPicPr>
          <p:nvPr/>
        </p:nvPicPr>
        <p:blipFill rotWithShape="1">
          <a:blip r:embed="rId3"/>
          <a:srcRect l="5504" t="-2334" r="50294" b="-1"/>
          <a:stretch/>
        </p:blipFill>
        <p:spPr>
          <a:xfrm>
            <a:off x="0" y="0"/>
            <a:ext cx="2663609" cy="1184275"/>
          </a:xfrm>
          <a:prstGeom prst="rect">
            <a:avLst/>
          </a:prstGeom>
          <a:ln w="19050">
            <a:solidFill>
              <a:schemeClr val="accent2">
                <a:lumMod val="50000"/>
              </a:schemeClr>
            </a:solidFill>
          </a:ln>
        </p:spPr>
      </p:pic>
    </p:spTree>
    <p:extLst>
      <p:ext uri="{BB962C8B-B14F-4D97-AF65-F5344CB8AC3E}">
        <p14:creationId xmlns:p14="http://schemas.microsoft.com/office/powerpoint/2010/main" val="130362109"/>
      </p:ext>
    </p:extLst>
  </p:cSld>
  <p:clrMapOvr>
    <a:masterClrMapping/>
  </p:clrMapOvr>
  <mc:AlternateContent xmlns:mc="http://schemas.openxmlformats.org/markup-compatibility/2006" xmlns:p14="http://schemas.microsoft.com/office/powerpoint/2010/main">
    <mc:Choice Requires="p14">
      <p:transition>
        <p:blinds/>
      </p:transition>
    </mc:Choice>
    <mc:Fallback xmlns="">
      <p:transition>
        <p:blind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0521" y="41165"/>
            <a:ext cx="8328456" cy="550837"/>
          </a:xfrm>
        </p:spPr>
        <p:txBody>
          <a:bodyPr>
            <a:noAutofit/>
          </a:bodyPr>
          <a:lstStyle/>
          <a:p>
            <a:pPr algn="l"/>
            <a:r>
              <a:rPr lang="en-US" sz="2800" dirty="0" smtClean="0">
                <a:solidFill>
                  <a:schemeClr val="accent1"/>
                </a:solidFill>
              </a:rPr>
              <a:t>ENTREPRENEURIAL CHARACTERISTICS</a:t>
            </a:r>
            <a:endParaRPr lang="en-US" sz="2800" dirty="0">
              <a:solidFill>
                <a:schemeClr val="accent1"/>
              </a:solidFill>
            </a:endParaRPr>
          </a:p>
        </p:txBody>
      </p:sp>
      <p:sp>
        <p:nvSpPr>
          <p:cNvPr id="3" name="Content Placeholder 2"/>
          <p:cNvSpPr>
            <a:spLocks noGrp="1"/>
          </p:cNvSpPr>
          <p:nvPr>
            <p:ph sz="half" idx="1"/>
          </p:nvPr>
        </p:nvSpPr>
        <p:spPr>
          <a:xfrm>
            <a:off x="484093" y="1184006"/>
            <a:ext cx="11026590" cy="5222481"/>
          </a:xfrm>
          <a:solidFill>
            <a:schemeClr val="bg1"/>
          </a:solidFill>
          <a:ln w="12700" cmpd="sng">
            <a:solidFill>
              <a:srgbClr val="92D050"/>
            </a:solidFill>
            <a:prstDash val="solid"/>
          </a:ln>
        </p:spPr>
        <p:txBody>
          <a:bodyPr numCol="2">
            <a:noAutofit/>
          </a:bodyPr>
          <a:lstStyle/>
          <a:p>
            <a:r>
              <a:rPr lang="en-US" sz="2800" dirty="0"/>
              <a:t>1.Self-confidence </a:t>
            </a:r>
          </a:p>
          <a:p>
            <a:r>
              <a:rPr lang="en-US" sz="2800" dirty="0"/>
              <a:t>2.Risk-taking ability  </a:t>
            </a:r>
          </a:p>
          <a:p>
            <a:r>
              <a:rPr lang="en-US" sz="2800" dirty="0"/>
              <a:t>3.Decision-making ability </a:t>
            </a:r>
          </a:p>
          <a:p>
            <a:r>
              <a:rPr lang="en-US" sz="2800" dirty="0"/>
              <a:t>4.Competitive</a:t>
            </a:r>
          </a:p>
          <a:p>
            <a:r>
              <a:rPr lang="en-US" sz="2800" dirty="0"/>
              <a:t>5.Intelligent </a:t>
            </a:r>
          </a:p>
          <a:p>
            <a:r>
              <a:rPr lang="en-US" sz="2800" dirty="0"/>
              <a:t>6.Visualization </a:t>
            </a:r>
          </a:p>
          <a:p>
            <a:r>
              <a:rPr lang="en-US" sz="2800" dirty="0"/>
              <a:t>7.Patience</a:t>
            </a:r>
          </a:p>
          <a:p>
            <a:r>
              <a:rPr lang="en-US" sz="2800" dirty="0"/>
              <a:t>8.Emotional </a:t>
            </a:r>
            <a:r>
              <a:rPr lang="en-US" sz="2800" dirty="0" smtClean="0"/>
              <a:t>tolerance</a:t>
            </a:r>
          </a:p>
          <a:p>
            <a:r>
              <a:rPr lang="en-US" sz="2800" dirty="0" smtClean="0"/>
              <a:t>9.Leadership </a:t>
            </a:r>
            <a:r>
              <a:rPr lang="en-US" sz="2800" dirty="0"/>
              <a:t>quality</a:t>
            </a:r>
          </a:p>
          <a:p>
            <a:r>
              <a:rPr lang="en-US" sz="2800" dirty="0"/>
              <a:t>10.Technical skill </a:t>
            </a:r>
          </a:p>
          <a:p>
            <a:r>
              <a:rPr lang="en-US" sz="2800" dirty="0"/>
              <a:t>11.Managerial skill </a:t>
            </a:r>
          </a:p>
          <a:p>
            <a:r>
              <a:rPr lang="en-US" sz="2800" dirty="0"/>
              <a:t>12.Conflict resolution skill </a:t>
            </a:r>
          </a:p>
          <a:p>
            <a:r>
              <a:rPr lang="en-US" sz="2800" dirty="0"/>
              <a:t>13.Organizing skill </a:t>
            </a:r>
          </a:p>
          <a:p>
            <a:r>
              <a:rPr lang="en-US" sz="2800" dirty="0"/>
              <a:t>14.High motivation </a:t>
            </a:r>
          </a:p>
          <a:p>
            <a:r>
              <a:rPr lang="en-US" sz="2800" dirty="0" smtClean="0"/>
              <a:t>15.Creative</a:t>
            </a:r>
          </a:p>
          <a:p>
            <a:r>
              <a:rPr lang="en-US" sz="2800" dirty="0" smtClean="0"/>
              <a:t>16.Reality-oriented</a:t>
            </a:r>
            <a:r>
              <a:rPr lang="en-US" sz="4800" dirty="0" smtClean="0"/>
              <a:t> </a:t>
            </a:r>
            <a:endParaRPr lang="en-US" sz="4800" dirty="0"/>
          </a:p>
        </p:txBody>
      </p:sp>
      <p:sp>
        <p:nvSpPr>
          <p:cNvPr id="9" name="Date Placeholder 8"/>
          <p:cNvSpPr>
            <a:spLocks noGrp="1"/>
          </p:cNvSpPr>
          <p:nvPr>
            <p:ph type="dt" sz="half" idx="10"/>
          </p:nvPr>
        </p:nvSpPr>
        <p:spPr/>
        <p:txBody>
          <a:bodyPr/>
          <a:lstStyle/>
          <a:p>
            <a:fld id="{B8E1AD91-9448-4213-98F8-010EBB07FE02}"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16</a:t>
            </a:fld>
            <a:endParaRPr lang="en-US" dirty="0"/>
          </a:p>
        </p:txBody>
      </p:sp>
      <p:pic>
        <p:nvPicPr>
          <p:cNvPr id="10" name="Picture 9"/>
          <p:cNvPicPr>
            <a:picLocks noChangeAspect="1"/>
          </p:cNvPicPr>
          <p:nvPr/>
        </p:nvPicPr>
        <p:blipFill rotWithShape="1">
          <a:blip r:embed="rId3"/>
          <a:srcRect l="5504" t="-2334" r="50294" b="-1"/>
          <a:stretch/>
        </p:blipFill>
        <p:spPr>
          <a:xfrm>
            <a:off x="0" y="0"/>
            <a:ext cx="2663609" cy="1184007"/>
          </a:xfrm>
          <a:prstGeom prst="rect">
            <a:avLst/>
          </a:prstGeom>
          <a:ln w="28575">
            <a:solidFill>
              <a:schemeClr val="accent2">
                <a:lumMod val="75000"/>
              </a:schemeClr>
            </a:solid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263684"/>
            <a:ext cx="8761303" cy="564279"/>
          </a:xfrm>
          <a:solidFill>
            <a:schemeClr val="bg1"/>
          </a:solidFill>
        </p:spPr>
        <p:txBody>
          <a:bodyPr/>
          <a:lstStyle/>
          <a:p>
            <a:r>
              <a:rPr lang="en-US" sz="2400" dirty="0" smtClean="0">
                <a:solidFill>
                  <a:schemeClr val="tx1"/>
                </a:solidFill>
              </a:rPr>
              <a:t>4. </a:t>
            </a:r>
            <a:r>
              <a:rPr lang="en-US" sz="2400" b="1" dirty="0" smtClean="0">
                <a:solidFill>
                  <a:schemeClr val="accent1"/>
                </a:solidFill>
              </a:rPr>
              <a:t>CREATIVITY AND INNOVATION IN ENTREPRENEURSHIP</a:t>
            </a:r>
            <a:endParaRPr lang="en-US" sz="2400" b="1" dirty="0">
              <a:solidFill>
                <a:schemeClr val="accent1"/>
              </a:solidFill>
            </a:endParaRPr>
          </a:p>
        </p:txBody>
      </p:sp>
      <p:sp>
        <p:nvSpPr>
          <p:cNvPr id="3" name="Content Placeholder 2"/>
          <p:cNvSpPr>
            <a:spLocks noGrp="1"/>
          </p:cNvSpPr>
          <p:nvPr>
            <p:ph idx="1"/>
          </p:nvPr>
        </p:nvSpPr>
        <p:spPr>
          <a:xfrm>
            <a:off x="605118" y="1118114"/>
            <a:ext cx="10959353" cy="5578524"/>
          </a:xfrm>
          <a:solidFill>
            <a:schemeClr val="bg1"/>
          </a:solidFill>
          <a:ln>
            <a:solidFill>
              <a:schemeClr val="accent2"/>
            </a:solidFill>
          </a:ln>
        </p:spPr>
        <p:txBody>
          <a:bodyPr>
            <a:noAutofit/>
          </a:bodyPr>
          <a:lstStyle/>
          <a:p>
            <a:endParaRPr lang="en-US" dirty="0" smtClean="0"/>
          </a:p>
          <a:p>
            <a:r>
              <a:rPr lang="en-US" sz="2000" dirty="0" smtClean="0"/>
              <a:t>For </a:t>
            </a:r>
            <a:r>
              <a:rPr lang="en-US" sz="2000" dirty="0"/>
              <a:t>the entrepreneurs, they can use a purposeful action and structure of a business that connect their creative idea to become more innovative. </a:t>
            </a:r>
            <a:endParaRPr lang="en-US" sz="2000" dirty="0" smtClean="0"/>
          </a:p>
          <a:p>
            <a:r>
              <a:rPr lang="en-US" sz="2000" dirty="0" smtClean="0"/>
              <a:t> </a:t>
            </a:r>
            <a:r>
              <a:rPr lang="en-US" sz="2000" dirty="0"/>
              <a:t>Entrepreneurship not only </a:t>
            </a:r>
            <a:r>
              <a:rPr lang="en-US" sz="2000" dirty="0" smtClean="0"/>
              <a:t>self-employment </a:t>
            </a:r>
            <a:r>
              <a:rPr lang="en-US" sz="2000" dirty="0"/>
              <a:t>and hard work but </a:t>
            </a:r>
            <a:r>
              <a:rPr lang="en-US" sz="2000" dirty="0" smtClean="0"/>
              <a:t>its </a:t>
            </a:r>
            <a:r>
              <a:rPr lang="en-US" sz="2000" dirty="0"/>
              <a:t>a platform to taps its full potential in which one’s need to put emphasis on the generation and development of </a:t>
            </a:r>
            <a:r>
              <a:rPr lang="en-US" sz="2000" dirty="0" smtClean="0"/>
              <a:t>idea. </a:t>
            </a:r>
          </a:p>
          <a:p>
            <a:r>
              <a:rPr lang="en-US" sz="2000" dirty="0" smtClean="0"/>
              <a:t>In </a:t>
            </a:r>
            <a:r>
              <a:rPr lang="en-US" sz="2000" dirty="0"/>
              <a:t>entrepreneurship field there is a need in risk-taking, research and development of new ideas and work hard to drive a new innovation in business. </a:t>
            </a:r>
            <a:endParaRPr lang="en-US" sz="2000" dirty="0" smtClean="0"/>
          </a:p>
          <a:p>
            <a:r>
              <a:rPr lang="en-US" sz="2000" dirty="0" smtClean="0"/>
              <a:t>Innovation </a:t>
            </a:r>
            <a:r>
              <a:rPr lang="en-US" sz="2000" dirty="0"/>
              <a:t>is the instrument in entrepreneurship and both entrepreneurship and innovation need creativity by which it is a symbolic domain in the culture is </a:t>
            </a:r>
            <a:r>
              <a:rPr lang="en-US" sz="2000" dirty="0" smtClean="0"/>
              <a:t>changed. </a:t>
            </a:r>
          </a:p>
          <a:p>
            <a:r>
              <a:rPr lang="en-US" sz="2000" dirty="0" smtClean="0"/>
              <a:t>Creativity </a:t>
            </a:r>
            <a:r>
              <a:rPr lang="en-US" sz="2000" dirty="0"/>
              <a:t>is the capability to produce, bring into existence, to create into a new form, to create through imaginative skill, to make to bring existence something new. </a:t>
            </a:r>
            <a:endParaRPr lang="en-US" sz="2000" dirty="0" smtClean="0"/>
          </a:p>
          <a:p>
            <a:r>
              <a:rPr lang="en-US" sz="2000" dirty="0" smtClean="0"/>
              <a:t>Companies </a:t>
            </a:r>
            <a:r>
              <a:rPr lang="en-US" sz="2000" dirty="0"/>
              <a:t>get recognized on their innovation as it is their ultimate source of competitive advantage point due to the new reality today’s global business. </a:t>
            </a:r>
          </a:p>
        </p:txBody>
      </p:sp>
      <p:sp>
        <p:nvSpPr>
          <p:cNvPr id="4" name="Date Placeholder 3"/>
          <p:cNvSpPr>
            <a:spLocks noGrp="1"/>
          </p:cNvSpPr>
          <p:nvPr>
            <p:ph type="dt" sz="half" idx="10"/>
          </p:nvPr>
        </p:nvSpPr>
        <p:spPr/>
        <p:txBody>
          <a:bodyPr/>
          <a:lstStyle/>
          <a:p>
            <a:fld id="{18E7591E-A17C-454B-8C39-19E63060D3B1}"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17</a:t>
            </a:fld>
            <a:endParaRPr lang="en-US"/>
          </a:p>
        </p:txBody>
      </p:sp>
      <p:pic>
        <p:nvPicPr>
          <p:cNvPr id="7" name="Picture 6"/>
          <p:cNvPicPr>
            <a:picLocks noChangeAspect="1"/>
          </p:cNvPicPr>
          <p:nvPr/>
        </p:nvPicPr>
        <p:blipFill rotWithShape="1">
          <a:blip r:embed="rId2"/>
          <a:srcRect l="5504" t="-2334" r="50294" b="-1"/>
          <a:stretch/>
        </p:blipFill>
        <p:spPr>
          <a:xfrm>
            <a:off x="0" y="0"/>
            <a:ext cx="2663609" cy="1020634"/>
          </a:xfrm>
          <a:prstGeom prst="rect">
            <a:avLst/>
          </a:prstGeom>
          <a:ln w="19050">
            <a:solidFill>
              <a:schemeClr val="accent2">
                <a:lumMod val="50000"/>
              </a:schemeClr>
            </a:solidFill>
          </a:ln>
        </p:spPr>
      </p:pic>
    </p:spTree>
    <p:extLst>
      <p:ext uri="{BB962C8B-B14F-4D97-AF65-F5344CB8AC3E}">
        <p14:creationId xmlns:p14="http://schemas.microsoft.com/office/powerpoint/2010/main" val="28879507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2663609" y="250907"/>
            <a:ext cx="8761303" cy="564279"/>
          </a:xfrm>
          <a:solidFill>
            <a:schemeClr val="bg1"/>
          </a:solidFill>
        </p:spPr>
        <p:txBody>
          <a:bodyPr/>
          <a:lstStyle/>
          <a:p>
            <a:r>
              <a:rPr lang="en-US" sz="2400" dirty="0" smtClean="0">
                <a:solidFill>
                  <a:schemeClr val="tx1"/>
                </a:solidFill>
              </a:rPr>
              <a:t>4. </a:t>
            </a:r>
            <a:r>
              <a:rPr lang="en-US" sz="2400" dirty="0" smtClean="0">
                <a:solidFill>
                  <a:schemeClr val="accent1"/>
                </a:solidFill>
              </a:rPr>
              <a:t>CREATIVITY AND INNOVATION IN ENTREPRENEURSHIP</a:t>
            </a:r>
            <a:endParaRPr lang="en-US" sz="2400" dirty="0">
              <a:solidFill>
                <a:schemeClr val="accent1"/>
              </a:solidFill>
            </a:endParaRPr>
          </a:p>
        </p:txBody>
      </p:sp>
      <p:sp>
        <p:nvSpPr>
          <p:cNvPr id="3" name="Content Placeholder 2"/>
          <p:cNvSpPr>
            <a:spLocks noGrp="1"/>
          </p:cNvSpPr>
          <p:nvPr>
            <p:ph idx="1"/>
          </p:nvPr>
        </p:nvSpPr>
        <p:spPr>
          <a:xfrm>
            <a:off x="618564" y="1118113"/>
            <a:ext cx="11120717" cy="5376815"/>
          </a:xfrm>
          <a:solidFill>
            <a:schemeClr val="bg1"/>
          </a:solidFill>
          <a:ln>
            <a:solidFill>
              <a:schemeClr val="accent2"/>
            </a:solidFill>
          </a:ln>
        </p:spPr>
        <p:txBody>
          <a:bodyPr>
            <a:normAutofit/>
          </a:bodyPr>
          <a:lstStyle/>
          <a:p>
            <a:r>
              <a:rPr lang="en-US" sz="2200" dirty="0"/>
              <a:t>Generally, entrepreneurs are required to have the ability to create, to invent into new form or to bring existence into something new. </a:t>
            </a:r>
            <a:endParaRPr lang="en-US" sz="2200" dirty="0" smtClean="0"/>
          </a:p>
          <a:p>
            <a:r>
              <a:rPr lang="en-US" sz="2200" dirty="0" smtClean="0"/>
              <a:t>Entrepreneurial </a:t>
            </a:r>
            <a:r>
              <a:rPr lang="en-US" sz="2200" dirty="0"/>
              <a:t>creativity has been defined as the generation and implementation of novel, suitable ideas to establish new venture. </a:t>
            </a:r>
            <a:endParaRPr lang="en-US" sz="2200" dirty="0" smtClean="0"/>
          </a:p>
          <a:p>
            <a:r>
              <a:rPr lang="en-US" sz="2200" dirty="0" smtClean="0"/>
              <a:t>Creativity </a:t>
            </a:r>
            <a:r>
              <a:rPr lang="en-US" sz="2200" dirty="0"/>
              <a:t>is a continuous process in which required party to work hard and continually improve ideas and solution. </a:t>
            </a:r>
            <a:endParaRPr lang="en-US" sz="2200" dirty="0" smtClean="0"/>
          </a:p>
          <a:p>
            <a:r>
              <a:rPr lang="en-US" sz="2200" dirty="0" smtClean="0"/>
              <a:t>Creative </a:t>
            </a:r>
            <a:r>
              <a:rPr lang="en-US" sz="2200" dirty="0"/>
              <a:t>person will work hard by making gradual alteration and refinements to their work. </a:t>
            </a:r>
            <a:endParaRPr lang="en-US" sz="2200" dirty="0" smtClean="0"/>
          </a:p>
          <a:p>
            <a:r>
              <a:rPr lang="en-US" sz="2200" dirty="0" smtClean="0"/>
              <a:t>Creativity </a:t>
            </a:r>
            <a:r>
              <a:rPr lang="en-US" sz="2200" dirty="0"/>
              <a:t>in entrepreneurship also implies the organization environment such as team climate, teamwork and others. </a:t>
            </a:r>
            <a:endParaRPr lang="en-US" sz="2200" dirty="0" smtClean="0"/>
          </a:p>
          <a:p>
            <a:r>
              <a:rPr lang="en-US" sz="2200" dirty="0" smtClean="0"/>
              <a:t>Creativity </a:t>
            </a:r>
            <a:r>
              <a:rPr lang="en-US" sz="2200" dirty="0"/>
              <a:t>in entrepreneurship includes the management in the organization that will lead to successful company.</a:t>
            </a:r>
          </a:p>
        </p:txBody>
      </p:sp>
      <p:sp>
        <p:nvSpPr>
          <p:cNvPr id="4" name="Date Placeholder 3"/>
          <p:cNvSpPr>
            <a:spLocks noGrp="1"/>
          </p:cNvSpPr>
          <p:nvPr>
            <p:ph type="dt" sz="half" idx="10"/>
          </p:nvPr>
        </p:nvSpPr>
        <p:spPr/>
        <p:txBody>
          <a:bodyPr/>
          <a:lstStyle/>
          <a:p>
            <a:fld id="{1F721809-BF3C-4434-956A-B871367AC86E}"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18</a:t>
            </a:fld>
            <a:endParaRPr lang="en-US"/>
          </a:p>
        </p:txBody>
      </p:sp>
      <p:pic>
        <p:nvPicPr>
          <p:cNvPr id="7" name="Picture 6"/>
          <p:cNvPicPr>
            <a:picLocks noChangeAspect="1"/>
          </p:cNvPicPr>
          <p:nvPr/>
        </p:nvPicPr>
        <p:blipFill rotWithShape="1">
          <a:blip r:embed="rId2"/>
          <a:srcRect l="5504" t="-2334" r="50294" b="-1"/>
          <a:stretch/>
        </p:blipFill>
        <p:spPr>
          <a:xfrm>
            <a:off x="0" y="-65893"/>
            <a:ext cx="2663609" cy="1184005"/>
          </a:xfrm>
          <a:prstGeom prst="rect">
            <a:avLst/>
          </a:prstGeom>
          <a:ln w="19050">
            <a:solidFill>
              <a:schemeClr val="accent2">
                <a:lumMod val="50000"/>
              </a:schemeClr>
            </a:solidFill>
          </a:ln>
        </p:spPr>
      </p:pic>
    </p:spTree>
    <p:extLst>
      <p:ext uri="{BB962C8B-B14F-4D97-AF65-F5344CB8AC3E}">
        <p14:creationId xmlns:p14="http://schemas.microsoft.com/office/powerpoint/2010/main" val="20780074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103233"/>
            <a:ext cx="9322201" cy="376020"/>
          </a:xfrm>
        </p:spPr>
        <p:txBody>
          <a:bodyPr>
            <a:normAutofit fontScale="90000"/>
          </a:bodyPr>
          <a:lstStyle/>
          <a:p>
            <a:r>
              <a:rPr lang="en-US" sz="2800" dirty="0" smtClean="0">
                <a:solidFill>
                  <a:schemeClr val="tx1"/>
                </a:solidFill>
              </a:rPr>
              <a:t>5. </a:t>
            </a:r>
            <a:r>
              <a:rPr lang="en-US" sz="2800" dirty="0" smtClean="0">
                <a:solidFill>
                  <a:schemeClr val="accent1"/>
                </a:solidFill>
              </a:rPr>
              <a:t>THE CREATIVE PROCESS</a:t>
            </a:r>
            <a:endParaRPr lang="en-US" sz="2800" dirty="0">
              <a:solidFill>
                <a:schemeClr val="accent1"/>
              </a:solidFill>
            </a:endParaRPr>
          </a:p>
        </p:txBody>
      </p:sp>
      <p:sp>
        <p:nvSpPr>
          <p:cNvPr id="3" name="Content Placeholder 2"/>
          <p:cNvSpPr>
            <a:spLocks noGrp="1"/>
          </p:cNvSpPr>
          <p:nvPr>
            <p:ph idx="1"/>
          </p:nvPr>
        </p:nvSpPr>
        <p:spPr>
          <a:xfrm>
            <a:off x="197224" y="1118113"/>
            <a:ext cx="11446479" cy="5578524"/>
          </a:xfrm>
          <a:solidFill>
            <a:schemeClr val="bg1"/>
          </a:solidFill>
          <a:ln>
            <a:solidFill>
              <a:schemeClr val="accent2"/>
            </a:solidFill>
          </a:ln>
        </p:spPr>
        <p:txBody>
          <a:bodyPr>
            <a:normAutofit/>
          </a:bodyPr>
          <a:lstStyle/>
          <a:p>
            <a:r>
              <a:rPr lang="en-US" sz="2000" b="1" dirty="0" smtClean="0"/>
              <a:t>The </a:t>
            </a:r>
            <a:r>
              <a:rPr lang="en-US" sz="2000" b="1" dirty="0"/>
              <a:t>process of creating new venture is inherently to be dynamic and versatile.</a:t>
            </a:r>
            <a:r>
              <a:rPr lang="en-US" sz="2000" dirty="0"/>
              <a:t> </a:t>
            </a:r>
            <a:endParaRPr lang="en-US" sz="2000" dirty="0" smtClean="0"/>
          </a:p>
          <a:p>
            <a:r>
              <a:rPr lang="en-US" sz="2000" dirty="0" smtClean="0"/>
              <a:t>The </a:t>
            </a:r>
            <a:r>
              <a:rPr lang="en-US" sz="2000" dirty="0"/>
              <a:t>creative </a:t>
            </a:r>
            <a:r>
              <a:rPr lang="en-US" sz="2000" dirty="0" smtClean="0"/>
              <a:t>process takes on the following steps: </a:t>
            </a:r>
          </a:p>
          <a:p>
            <a:pPr marL="857250" lvl="1" indent="-457200">
              <a:buFont typeface="+mj-lt"/>
              <a:buAutoNum type="arabicPeriod"/>
            </a:pPr>
            <a:r>
              <a:rPr lang="en-US" sz="1800" b="1" dirty="0" smtClean="0"/>
              <a:t>Step </a:t>
            </a:r>
            <a:r>
              <a:rPr lang="en-US" sz="1800" b="1" dirty="0"/>
              <a:t>1: Preparation </a:t>
            </a:r>
            <a:endParaRPr lang="en-US" sz="1800" b="1" dirty="0" smtClean="0"/>
          </a:p>
          <a:p>
            <a:pPr marL="860425" indent="-511175"/>
            <a:r>
              <a:rPr lang="en-US" sz="2000" dirty="0" smtClean="0"/>
              <a:t>This is </a:t>
            </a:r>
            <a:r>
              <a:rPr lang="en-US" sz="2000" dirty="0"/>
              <a:t>a basic step need to be taking care off. It is a process to prepare your mind to be in creative thinking. </a:t>
            </a:r>
            <a:endParaRPr lang="en-US" sz="2000" dirty="0" smtClean="0"/>
          </a:p>
          <a:p>
            <a:pPr marL="860425" indent="-511175"/>
            <a:r>
              <a:rPr lang="en-US" sz="2000" dirty="0" smtClean="0"/>
              <a:t>The </a:t>
            </a:r>
            <a:r>
              <a:rPr lang="en-US" sz="2000" dirty="0"/>
              <a:t>basic starts is identify a problem and look out for related information. Get your mind ready by study and research more on the field of expertise. </a:t>
            </a:r>
            <a:endParaRPr lang="en-US" sz="2000" dirty="0" smtClean="0"/>
          </a:p>
          <a:p>
            <a:pPr marL="860425" indent="-511175"/>
            <a:r>
              <a:rPr lang="en-US" sz="2000" dirty="0" smtClean="0"/>
              <a:t>Take </a:t>
            </a:r>
            <a:r>
              <a:rPr lang="en-US" sz="2000" dirty="0"/>
              <a:t>more time to involve in professional or trade association to gain more experience and knowledge</a:t>
            </a:r>
            <a:r>
              <a:rPr lang="en-US" sz="2000" dirty="0" smtClean="0"/>
              <a:t>.</a:t>
            </a:r>
          </a:p>
          <a:p>
            <a:pPr marL="857250" lvl="1" indent="-457200">
              <a:buFont typeface="+mj-lt"/>
              <a:buAutoNum type="arabicPeriod" startAt="2"/>
            </a:pPr>
            <a:r>
              <a:rPr lang="en-US" sz="1800" b="1" dirty="0"/>
              <a:t>Step 2: Thinking the unthinkable </a:t>
            </a:r>
            <a:endParaRPr lang="en-US" sz="1800" b="1" dirty="0" smtClean="0"/>
          </a:p>
          <a:p>
            <a:pPr marL="914400" indent="-565150"/>
            <a:r>
              <a:rPr lang="en-US" sz="2000" dirty="0" smtClean="0"/>
              <a:t>In </a:t>
            </a:r>
            <a:r>
              <a:rPr lang="en-US" sz="2000" dirty="0"/>
              <a:t>this step required entrepreneur to go beyond the comfort zone. </a:t>
            </a:r>
            <a:endParaRPr lang="en-US" sz="2000" dirty="0" smtClean="0"/>
          </a:p>
          <a:p>
            <a:pPr marL="914400" indent="-565150"/>
            <a:r>
              <a:rPr lang="en-US" sz="2000" dirty="0" smtClean="0"/>
              <a:t>The </a:t>
            </a:r>
            <a:r>
              <a:rPr lang="en-US" sz="2000" dirty="0"/>
              <a:t>phrase thinking outside the box often be used to create the creative problem solution and expression that has been used in psychology, business and marketing. </a:t>
            </a:r>
          </a:p>
        </p:txBody>
      </p:sp>
      <p:sp>
        <p:nvSpPr>
          <p:cNvPr id="4" name="Date Placeholder 3"/>
          <p:cNvSpPr>
            <a:spLocks noGrp="1"/>
          </p:cNvSpPr>
          <p:nvPr>
            <p:ph type="dt" sz="half" idx="10"/>
          </p:nvPr>
        </p:nvSpPr>
        <p:spPr/>
        <p:txBody>
          <a:bodyPr/>
          <a:lstStyle/>
          <a:p>
            <a:fld id="{44306B58-4A89-472C-8B12-CFE35F4A6DA1}"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19</a:t>
            </a:fld>
            <a:endParaRPr lang="en-US"/>
          </a:p>
        </p:txBody>
      </p:sp>
      <p:pic>
        <p:nvPicPr>
          <p:cNvPr id="7" name="Picture 6"/>
          <p:cNvPicPr>
            <a:picLocks noChangeAspect="1"/>
          </p:cNvPicPr>
          <p:nvPr/>
        </p:nvPicPr>
        <p:blipFill rotWithShape="1">
          <a:blip r:embed="rId2"/>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23847313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2663609" y="103233"/>
            <a:ext cx="9322201" cy="376020"/>
          </a:xfrm>
        </p:spPr>
        <p:txBody>
          <a:bodyPr>
            <a:normAutofit fontScale="90000"/>
          </a:bodyPr>
          <a:lstStyle/>
          <a:p>
            <a:r>
              <a:rPr lang="en-US" sz="2800" dirty="0" smtClean="0">
                <a:solidFill>
                  <a:schemeClr val="tx1"/>
                </a:solidFill>
              </a:rPr>
              <a:t>5. </a:t>
            </a:r>
            <a:r>
              <a:rPr lang="en-US" sz="2800" dirty="0" smtClean="0">
                <a:solidFill>
                  <a:schemeClr val="accent1"/>
                </a:solidFill>
              </a:rPr>
              <a:t>THE CREATIVE PROCESS</a:t>
            </a:r>
            <a:endParaRPr lang="en-US" sz="2800" dirty="0">
              <a:solidFill>
                <a:schemeClr val="accent1"/>
              </a:solidFill>
            </a:endParaRPr>
          </a:p>
        </p:txBody>
      </p:sp>
      <p:sp>
        <p:nvSpPr>
          <p:cNvPr id="3" name="Content Placeholder 2"/>
          <p:cNvSpPr>
            <a:spLocks noGrp="1"/>
          </p:cNvSpPr>
          <p:nvPr>
            <p:ph idx="1"/>
          </p:nvPr>
        </p:nvSpPr>
        <p:spPr>
          <a:xfrm>
            <a:off x="591670" y="1118113"/>
            <a:ext cx="11147611" cy="5444051"/>
          </a:xfrm>
          <a:solidFill>
            <a:schemeClr val="bg1"/>
          </a:solidFill>
          <a:ln>
            <a:solidFill>
              <a:schemeClr val="accent2"/>
            </a:solidFill>
          </a:ln>
        </p:spPr>
        <p:txBody>
          <a:bodyPr>
            <a:noAutofit/>
          </a:bodyPr>
          <a:lstStyle/>
          <a:p>
            <a:pPr marL="857250" lvl="1" indent="-457200">
              <a:buFont typeface="+mj-lt"/>
              <a:buAutoNum type="arabicPeriod" startAt="3"/>
            </a:pPr>
            <a:r>
              <a:rPr lang="en-US" sz="2100" b="1" dirty="0"/>
              <a:t>Step 3: Creativity Isn’t Magic </a:t>
            </a:r>
            <a:endParaRPr lang="en-US" sz="2100" b="1" dirty="0" smtClean="0"/>
          </a:p>
          <a:p>
            <a:pPr marL="739775"/>
            <a:r>
              <a:rPr lang="en-US" sz="2100" dirty="0" smtClean="0"/>
              <a:t>Creativity </a:t>
            </a:r>
            <a:r>
              <a:rPr lang="en-US" sz="2100" dirty="0"/>
              <a:t>is the ability to generate, reapplying, changing or combining between new and existing ideas. </a:t>
            </a:r>
            <a:endParaRPr lang="en-US" sz="2100" dirty="0" smtClean="0"/>
          </a:p>
          <a:p>
            <a:pPr marL="739775" indent="-336550"/>
            <a:r>
              <a:rPr lang="en-US" sz="2100" dirty="0" smtClean="0"/>
              <a:t>The </a:t>
            </a:r>
            <a:r>
              <a:rPr lang="en-US" sz="2100" dirty="0"/>
              <a:t>simplest way to obtain new idea is by combining the ideas and existing elements. </a:t>
            </a:r>
            <a:endParaRPr lang="en-US" sz="2100" dirty="0" smtClean="0"/>
          </a:p>
          <a:p>
            <a:pPr marL="857250" lvl="1" indent="-457200">
              <a:buFont typeface="+mj-lt"/>
              <a:buAutoNum type="arabicPeriod" startAt="4"/>
            </a:pPr>
            <a:r>
              <a:rPr lang="en-US" sz="2100" b="1" dirty="0" smtClean="0"/>
              <a:t>Step </a:t>
            </a:r>
            <a:r>
              <a:rPr lang="en-US" sz="2100" b="1" dirty="0"/>
              <a:t>4: Incubation </a:t>
            </a:r>
            <a:endParaRPr lang="en-US" sz="2100" b="1" dirty="0" smtClean="0"/>
          </a:p>
          <a:p>
            <a:pPr marL="739775" indent="-336550"/>
            <a:r>
              <a:rPr lang="en-US" sz="2100" dirty="0" smtClean="0"/>
              <a:t>In </a:t>
            </a:r>
            <a:r>
              <a:rPr lang="en-US" sz="2100" dirty="0"/>
              <a:t>this stage involve a lot of works in order to achieve the main goal that is to find a solution. By evaluating the existing project can help to generate potential idea. </a:t>
            </a:r>
            <a:endParaRPr lang="en-US" sz="2100" dirty="0" smtClean="0"/>
          </a:p>
          <a:p>
            <a:pPr marL="857250" lvl="1" indent="-457200">
              <a:buFont typeface="+mj-lt"/>
              <a:buAutoNum type="arabicPeriod" startAt="5"/>
            </a:pPr>
            <a:r>
              <a:rPr lang="en-US" sz="2100" b="1" dirty="0" smtClean="0"/>
              <a:t>Step </a:t>
            </a:r>
            <a:r>
              <a:rPr lang="en-US" sz="2100" b="1" dirty="0"/>
              <a:t>5: Illumination </a:t>
            </a:r>
            <a:endParaRPr lang="en-US" sz="2100" b="1" dirty="0" smtClean="0"/>
          </a:p>
          <a:p>
            <a:pPr marL="739775" indent="-390525"/>
            <a:r>
              <a:rPr lang="en-US" sz="2100" dirty="0" smtClean="0"/>
              <a:t>In </a:t>
            </a:r>
            <a:r>
              <a:rPr lang="en-US" sz="2100" dirty="0"/>
              <a:t>this stage, ideas that generate from incubation stage need to be clarified. </a:t>
            </a:r>
            <a:endParaRPr lang="en-US" sz="2100" dirty="0" smtClean="0"/>
          </a:p>
          <a:p>
            <a:pPr marL="739775" indent="-390525"/>
            <a:r>
              <a:rPr lang="en-US" sz="2100" dirty="0" smtClean="0"/>
              <a:t>Now </a:t>
            </a:r>
            <a:r>
              <a:rPr lang="en-US" sz="2100" dirty="0"/>
              <a:t>the creativity process leads to the knowledge of some practical ideas that can be put to work. </a:t>
            </a:r>
          </a:p>
        </p:txBody>
      </p:sp>
      <p:sp>
        <p:nvSpPr>
          <p:cNvPr id="4" name="Date Placeholder 3"/>
          <p:cNvSpPr>
            <a:spLocks noGrp="1"/>
          </p:cNvSpPr>
          <p:nvPr>
            <p:ph type="dt" sz="half" idx="10"/>
          </p:nvPr>
        </p:nvSpPr>
        <p:spPr/>
        <p:txBody>
          <a:bodyPr/>
          <a:lstStyle/>
          <a:p>
            <a:fld id="{F107B1C8-365F-471D-9F5D-98FD5013F250}"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20</a:t>
            </a:fld>
            <a:endParaRPr lang="en-US"/>
          </a:p>
        </p:txBody>
      </p:sp>
      <p:pic>
        <p:nvPicPr>
          <p:cNvPr id="7" name="Picture 6"/>
          <p:cNvPicPr>
            <a:picLocks noChangeAspect="1"/>
          </p:cNvPicPr>
          <p:nvPr/>
        </p:nvPicPr>
        <p:blipFill rotWithShape="1">
          <a:blip r:embed="rId2"/>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41692304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648" y="1118114"/>
            <a:ext cx="11268634" cy="5328422"/>
          </a:xfrm>
          <a:solidFill>
            <a:schemeClr val="bg1"/>
          </a:solidFill>
          <a:ln>
            <a:solidFill>
              <a:schemeClr val="accent2"/>
            </a:solidFill>
          </a:ln>
        </p:spPr>
        <p:txBody>
          <a:bodyPr>
            <a:noAutofit/>
          </a:bodyPr>
          <a:lstStyle/>
          <a:p>
            <a:pPr lvl="1">
              <a:buFont typeface="+mj-lt"/>
              <a:buAutoNum type="arabicPeriod" startAt="6"/>
            </a:pPr>
            <a:r>
              <a:rPr lang="en-US" sz="2300" b="1" dirty="0"/>
              <a:t>Step 6: Verification </a:t>
            </a:r>
            <a:endParaRPr lang="en-US" sz="2300" b="1" dirty="0" smtClean="0"/>
          </a:p>
          <a:p>
            <a:pPr marL="914400" indent="-511175"/>
            <a:r>
              <a:rPr lang="en-US" sz="2300" dirty="0" smtClean="0"/>
              <a:t>This </a:t>
            </a:r>
            <a:r>
              <a:rPr lang="en-US" sz="2300" dirty="0"/>
              <a:t>stage is to validate the idea accurate and useful. The idea will be determine either it is potential to solve a problem or not. </a:t>
            </a:r>
            <a:endParaRPr lang="en-US" sz="2300" dirty="0" smtClean="0"/>
          </a:p>
          <a:p>
            <a:pPr marL="914400" indent="-511175"/>
            <a:r>
              <a:rPr lang="en-US" sz="2300" dirty="0" smtClean="0"/>
              <a:t>The </a:t>
            </a:r>
            <a:r>
              <a:rPr lang="en-US" sz="2300" dirty="0"/>
              <a:t>idea may be rejected, accepted, modified with minor or major changes. If the idea is rejected, the whole processes need to start again. </a:t>
            </a:r>
            <a:endParaRPr lang="en-US" sz="2300" dirty="0" smtClean="0"/>
          </a:p>
          <a:p>
            <a:pPr lvl="1">
              <a:buFont typeface="+mj-lt"/>
              <a:buAutoNum type="arabicPeriod" startAt="7"/>
            </a:pPr>
            <a:r>
              <a:rPr lang="en-US" sz="2100" b="1" dirty="0"/>
              <a:t>Step 7: Critical Thinking </a:t>
            </a:r>
            <a:endParaRPr lang="en-US" sz="2100" b="1" dirty="0" smtClean="0"/>
          </a:p>
          <a:p>
            <a:pPr marL="806450" indent="-403225"/>
            <a:r>
              <a:rPr lang="en-US" sz="2300" dirty="0" smtClean="0"/>
              <a:t>Critical </a:t>
            </a:r>
            <a:r>
              <a:rPr lang="en-US" sz="2300" dirty="0"/>
              <a:t>thinking allows an entrepreneur to assess their own abilities in evaluating ideas. </a:t>
            </a:r>
            <a:endParaRPr lang="en-US" sz="2300" dirty="0" smtClean="0"/>
          </a:p>
          <a:p>
            <a:pPr marL="806450" indent="-403225"/>
            <a:r>
              <a:rPr lang="en-US" sz="2300" dirty="0" smtClean="0"/>
              <a:t>Critical </a:t>
            </a:r>
            <a:r>
              <a:rPr lang="en-US" sz="2300" dirty="0"/>
              <a:t>thinking offers many advantages to entrepreneurs such as helping to formulate the best ideas and enabling them to explore new horizons.</a:t>
            </a:r>
          </a:p>
        </p:txBody>
      </p:sp>
      <p:sp>
        <p:nvSpPr>
          <p:cNvPr id="4" name="Date Placeholder 3"/>
          <p:cNvSpPr>
            <a:spLocks noGrp="1"/>
          </p:cNvSpPr>
          <p:nvPr>
            <p:ph type="dt" sz="half" idx="10"/>
          </p:nvPr>
        </p:nvSpPr>
        <p:spPr/>
        <p:txBody>
          <a:bodyPr/>
          <a:lstStyle/>
          <a:p>
            <a:fld id="{30AF528B-B3A1-4968-ACF9-6C02B7C31DBE}"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21</a:t>
            </a:fld>
            <a:endParaRPr lang="en-US"/>
          </a:p>
        </p:txBody>
      </p:sp>
      <p:pic>
        <p:nvPicPr>
          <p:cNvPr id="7" name="Picture 6"/>
          <p:cNvPicPr>
            <a:picLocks noChangeAspect="1"/>
          </p:cNvPicPr>
          <p:nvPr/>
        </p:nvPicPr>
        <p:blipFill rotWithShape="1">
          <a:blip r:embed="rId2"/>
          <a:srcRect l="5504" t="-2334" r="50294" b="-1"/>
          <a:stretch/>
        </p:blipFill>
        <p:spPr>
          <a:xfrm>
            <a:off x="0" y="-65893"/>
            <a:ext cx="2663609" cy="1184007"/>
          </a:xfrm>
          <a:prstGeom prst="rect">
            <a:avLst/>
          </a:prstGeom>
          <a:ln w="19050">
            <a:solidFill>
              <a:schemeClr val="accent2">
                <a:lumMod val="50000"/>
              </a:schemeClr>
            </a:solidFill>
          </a:ln>
        </p:spPr>
      </p:pic>
      <p:sp>
        <p:nvSpPr>
          <p:cNvPr id="8" name="Title 1"/>
          <p:cNvSpPr txBox="1">
            <a:spLocks/>
          </p:cNvSpPr>
          <p:nvPr/>
        </p:nvSpPr>
        <p:spPr bwMode="gray">
          <a:xfrm>
            <a:off x="2663609" y="103233"/>
            <a:ext cx="9322201" cy="37602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smtClean="0">
                <a:solidFill>
                  <a:schemeClr val="tx1"/>
                </a:solidFill>
              </a:rPr>
              <a:t>5. </a:t>
            </a:r>
            <a:r>
              <a:rPr lang="en-US" sz="2800" dirty="0" smtClean="0">
                <a:solidFill>
                  <a:schemeClr val="accent1"/>
                </a:solidFill>
              </a:rPr>
              <a:t>THE CREATIVE PROCESS</a:t>
            </a:r>
            <a:endParaRPr lang="en-US" sz="2800" dirty="0">
              <a:solidFill>
                <a:schemeClr val="accent1"/>
              </a:solidFill>
            </a:endParaRPr>
          </a:p>
        </p:txBody>
      </p:sp>
    </p:spTree>
    <p:extLst>
      <p:ext uri="{BB962C8B-B14F-4D97-AF65-F5344CB8AC3E}">
        <p14:creationId xmlns:p14="http://schemas.microsoft.com/office/powerpoint/2010/main" val="31638455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1"/>
            <a:ext cx="8761413" cy="649211"/>
          </a:xfrm>
        </p:spPr>
        <p:txBody>
          <a:bodyPr/>
          <a:lstStyle/>
          <a:p>
            <a:r>
              <a:rPr lang="en-US" sz="3200" dirty="0" smtClean="0">
                <a:solidFill>
                  <a:schemeClr val="tx1"/>
                </a:solidFill>
              </a:rPr>
              <a:t>6. </a:t>
            </a:r>
            <a:r>
              <a:rPr lang="en-US" sz="3200" dirty="0" smtClean="0">
                <a:solidFill>
                  <a:schemeClr val="accent1"/>
                </a:solidFill>
              </a:rPr>
              <a:t>INNOVATION IN ENTREPRENEURSHIP</a:t>
            </a:r>
            <a:endParaRPr lang="en-US" sz="3200" dirty="0">
              <a:solidFill>
                <a:schemeClr val="accent1"/>
              </a:solidFill>
            </a:endParaRPr>
          </a:p>
        </p:txBody>
      </p:sp>
      <p:sp>
        <p:nvSpPr>
          <p:cNvPr id="3" name="Content Placeholder 2"/>
          <p:cNvSpPr>
            <a:spLocks noGrp="1"/>
          </p:cNvSpPr>
          <p:nvPr>
            <p:ph idx="1"/>
          </p:nvPr>
        </p:nvSpPr>
        <p:spPr>
          <a:xfrm>
            <a:off x="457201" y="1118115"/>
            <a:ext cx="11186502" cy="5444050"/>
          </a:xfrm>
          <a:solidFill>
            <a:schemeClr val="bg1"/>
          </a:solidFill>
          <a:ln>
            <a:solidFill>
              <a:schemeClr val="accent2"/>
            </a:solidFill>
          </a:ln>
        </p:spPr>
        <p:txBody>
          <a:bodyPr>
            <a:normAutofit/>
          </a:bodyPr>
          <a:lstStyle/>
          <a:p>
            <a:endParaRPr lang="en-US" dirty="0" smtClean="0"/>
          </a:p>
          <a:p>
            <a:r>
              <a:rPr lang="en-US" sz="2000" dirty="0" smtClean="0"/>
              <a:t>Creativity leads to </a:t>
            </a:r>
            <a:r>
              <a:rPr lang="en-US" sz="2000" dirty="0"/>
              <a:t>innovation </a:t>
            </a:r>
            <a:r>
              <a:rPr lang="en-US" sz="2000" dirty="0" smtClean="0"/>
              <a:t>which in turn leads to entrepreneurship</a:t>
            </a:r>
          </a:p>
          <a:p>
            <a:r>
              <a:rPr lang="en-US" sz="2000" dirty="0" smtClean="0"/>
              <a:t>The </a:t>
            </a:r>
            <a:r>
              <a:rPr lang="en-US" sz="2000" dirty="0"/>
              <a:t>combination and transforms ideas and knowledge and turn into new value are a process of innovation. Without innovation, the productions of enterprise become obsolete</a:t>
            </a:r>
            <a:r>
              <a:rPr lang="en-US" sz="2000" dirty="0" smtClean="0"/>
              <a:t>. </a:t>
            </a:r>
          </a:p>
          <a:p>
            <a:r>
              <a:rPr lang="en-US" sz="2000" dirty="0" smtClean="0"/>
              <a:t>Entrepreneurs </a:t>
            </a:r>
            <a:r>
              <a:rPr lang="en-US" sz="2000" dirty="0"/>
              <a:t>combine creative idea with existing market opportunities and actively pursuing an entrepreneurial opportunity to reality with launch of the business. </a:t>
            </a:r>
            <a:endParaRPr lang="en-US" sz="2000" dirty="0" smtClean="0"/>
          </a:p>
          <a:p>
            <a:r>
              <a:rPr lang="en-US" sz="2000" b="1" dirty="0" smtClean="0"/>
              <a:t>Innovation </a:t>
            </a:r>
            <a:r>
              <a:rPr lang="en-US" sz="2000" b="1" dirty="0"/>
              <a:t>can take several forms: </a:t>
            </a:r>
            <a:endParaRPr lang="en-US" sz="2000" b="1" dirty="0" smtClean="0"/>
          </a:p>
          <a:p>
            <a:pPr marL="457200" indent="-457200">
              <a:buFont typeface="+mj-lt"/>
              <a:buAutoNum type="arabicPeriod"/>
            </a:pPr>
            <a:r>
              <a:rPr lang="en-US" sz="2000" dirty="0" smtClean="0"/>
              <a:t>Innovation </a:t>
            </a:r>
            <a:r>
              <a:rPr lang="en-US" sz="2000" dirty="0"/>
              <a:t>in process which includes change and improvement to methods. These contribute to increase in activity and by which lower cost and help to increase demand. </a:t>
            </a:r>
            <a:endParaRPr lang="en-US" sz="2000" dirty="0" smtClean="0"/>
          </a:p>
          <a:p>
            <a:pPr marL="457200" indent="-457200">
              <a:buFont typeface="+mj-lt"/>
              <a:buAutoNum type="arabicPeriod"/>
            </a:pPr>
            <a:r>
              <a:rPr lang="en-US" sz="2000" dirty="0" smtClean="0"/>
              <a:t>Innovation </a:t>
            </a:r>
            <a:r>
              <a:rPr lang="en-US" sz="2000" dirty="0"/>
              <a:t>in products or services. Through this innovation, its leads to increases in effective demand which encourages increases in investment and employment. </a:t>
            </a:r>
            <a:endParaRPr lang="en-US" sz="2000" dirty="0" smtClean="0"/>
          </a:p>
          <a:p>
            <a:pPr marL="457200" indent="-457200">
              <a:buFont typeface="+mj-lt"/>
              <a:buAutoNum type="arabicPeriod"/>
            </a:pPr>
            <a:r>
              <a:rPr lang="en-US" sz="2000" dirty="0"/>
              <a:t>Innovation in management and work organization. This innovation require the organization take part equally and joining to generate viable and potential idea to become more competitive.</a:t>
            </a:r>
            <a:endParaRPr lang="en-US" sz="2000" dirty="0" smtClean="0"/>
          </a:p>
        </p:txBody>
      </p:sp>
      <p:sp>
        <p:nvSpPr>
          <p:cNvPr id="4" name="Date Placeholder 3"/>
          <p:cNvSpPr>
            <a:spLocks noGrp="1"/>
          </p:cNvSpPr>
          <p:nvPr>
            <p:ph type="dt" sz="half" idx="10"/>
          </p:nvPr>
        </p:nvSpPr>
        <p:spPr/>
        <p:txBody>
          <a:bodyPr/>
          <a:lstStyle/>
          <a:p>
            <a:fld id="{52D88FBC-3F12-4940-AA4B-2683E19D2B75}"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22</a:t>
            </a:fld>
            <a:endParaRPr lang="en-US"/>
          </a:p>
        </p:txBody>
      </p:sp>
      <p:pic>
        <p:nvPicPr>
          <p:cNvPr id="7" name="Picture 6"/>
          <p:cNvPicPr>
            <a:picLocks noChangeAspect="1"/>
          </p:cNvPicPr>
          <p:nvPr/>
        </p:nvPicPr>
        <p:blipFill rotWithShape="1">
          <a:blip r:embed="rId2"/>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40986701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172628"/>
            <a:ext cx="8761413" cy="706964"/>
          </a:xfrm>
        </p:spPr>
        <p:txBody>
          <a:bodyPr>
            <a:noAutofit/>
          </a:bodyPr>
          <a:lstStyle/>
          <a:p>
            <a:r>
              <a:rPr lang="en-US" sz="2800" dirty="0">
                <a:solidFill>
                  <a:schemeClr val="accent1"/>
                </a:solidFill>
              </a:rPr>
              <a:t>Roles of Creativity and Innovation in Entrepreneurship</a:t>
            </a:r>
          </a:p>
        </p:txBody>
      </p:sp>
      <p:sp>
        <p:nvSpPr>
          <p:cNvPr id="3" name="Content Placeholder 2"/>
          <p:cNvSpPr>
            <a:spLocks noGrp="1"/>
          </p:cNvSpPr>
          <p:nvPr>
            <p:ph idx="1"/>
          </p:nvPr>
        </p:nvSpPr>
        <p:spPr>
          <a:xfrm>
            <a:off x="470647" y="1118113"/>
            <a:ext cx="11173055" cy="5273725"/>
          </a:xfrm>
          <a:solidFill>
            <a:schemeClr val="bg1"/>
          </a:solidFill>
          <a:ln>
            <a:solidFill>
              <a:schemeClr val="accent2"/>
            </a:solidFill>
          </a:ln>
        </p:spPr>
        <p:txBody>
          <a:bodyPr>
            <a:noAutofit/>
          </a:bodyPr>
          <a:lstStyle/>
          <a:p>
            <a:r>
              <a:rPr lang="en-US" sz="1900" dirty="0" smtClean="0"/>
              <a:t>Creativity </a:t>
            </a:r>
            <a:r>
              <a:rPr lang="en-US" sz="1900" dirty="0"/>
              <a:t>and innovation in entrepreneurship link by which creativity is the intellectual activity to create new ideas while innovation is the action taken to transform the new ideas into a result. </a:t>
            </a:r>
            <a:endParaRPr lang="en-US" sz="1900" dirty="0" smtClean="0"/>
          </a:p>
          <a:p>
            <a:pPr>
              <a:buFont typeface="+mj-lt"/>
              <a:buAutoNum type="arabicPeriod"/>
            </a:pPr>
            <a:r>
              <a:rPr lang="en-US" sz="1900" dirty="0" smtClean="0"/>
              <a:t>Creativity </a:t>
            </a:r>
            <a:r>
              <a:rPr lang="en-US" sz="1900" dirty="0"/>
              <a:t>boosts business </a:t>
            </a:r>
            <a:r>
              <a:rPr lang="en-US" sz="1900" dirty="0" smtClean="0"/>
              <a:t>reputation because creative </a:t>
            </a:r>
            <a:r>
              <a:rPr lang="en-US" sz="1900" dirty="0"/>
              <a:t>entrepreneurs must be able to value add the </a:t>
            </a:r>
            <a:r>
              <a:rPr lang="en-US" sz="1900" dirty="0" smtClean="0"/>
              <a:t>specialty </a:t>
            </a:r>
            <a:r>
              <a:rPr lang="en-US" sz="1900" dirty="0"/>
              <a:t>in their product and </a:t>
            </a:r>
            <a:r>
              <a:rPr lang="en-US" sz="1900" dirty="0" smtClean="0"/>
              <a:t>services and </a:t>
            </a:r>
            <a:r>
              <a:rPr lang="en-US" sz="1900" dirty="0"/>
              <a:t>to keep the reputation run for long time creativity need to innovate from time to time without losing it touch and originality. </a:t>
            </a:r>
            <a:endParaRPr lang="en-US" sz="1900" dirty="0" smtClean="0"/>
          </a:p>
          <a:p>
            <a:pPr>
              <a:buFont typeface="+mj-lt"/>
              <a:buAutoNum type="arabicPeriod"/>
            </a:pPr>
            <a:r>
              <a:rPr lang="en-US" sz="1900" dirty="0" smtClean="0"/>
              <a:t>Creativity is a source </a:t>
            </a:r>
            <a:r>
              <a:rPr lang="en-US" sz="1900" dirty="0"/>
              <a:t>of business survival </a:t>
            </a:r>
            <a:r>
              <a:rPr lang="en-US" sz="1900" dirty="0" smtClean="0"/>
              <a:t>because it </a:t>
            </a:r>
            <a:r>
              <a:rPr lang="en-US" sz="1900" dirty="0"/>
              <a:t>is essential for business environment to compete in an increasingly challenging world at the moment. The values of creativity is vital for competitors who constantly producing innovative products or services accordance with the current development. </a:t>
            </a:r>
            <a:endParaRPr lang="en-US" sz="1900" dirty="0" smtClean="0"/>
          </a:p>
          <a:p>
            <a:pPr>
              <a:buFont typeface="+mj-lt"/>
              <a:buAutoNum type="arabicPeriod"/>
            </a:pPr>
            <a:r>
              <a:rPr lang="en-US" sz="1900" dirty="0" smtClean="0"/>
              <a:t>The </a:t>
            </a:r>
            <a:r>
              <a:rPr lang="en-US" sz="1900" dirty="0"/>
              <a:t>advantage by taking creativity as priority leads the entrepreneurial towards better </a:t>
            </a:r>
            <a:r>
              <a:rPr lang="en-US" sz="1900" dirty="0" smtClean="0"/>
              <a:t>quality. </a:t>
            </a:r>
            <a:r>
              <a:rPr lang="en-US" sz="1900" dirty="0"/>
              <a:t>Entrepreneur need to think out of box to enhance the entrepreneurial qualities. </a:t>
            </a:r>
            <a:endParaRPr lang="en-US" sz="1900" dirty="0" smtClean="0"/>
          </a:p>
          <a:p>
            <a:pPr>
              <a:buFont typeface="+mj-lt"/>
              <a:buAutoNum type="arabicPeriod"/>
            </a:pPr>
            <a:r>
              <a:rPr lang="en-US" sz="1900" dirty="0" smtClean="0"/>
              <a:t>Creating </a:t>
            </a:r>
            <a:r>
              <a:rPr lang="en-US" sz="1900" dirty="0"/>
              <a:t>new ideas for competitive advantages The whole process of entrepreneurship itself rooted in creation and exploration of creating and explores new ideas. </a:t>
            </a:r>
            <a:r>
              <a:rPr lang="en-US" sz="1900" dirty="0" smtClean="0"/>
              <a:t>A creative </a:t>
            </a:r>
            <a:r>
              <a:rPr lang="en-US" sz="1900" dirty="0"/>
              <a:t>entrepreneur creates new products for existing services and product.</a:t>
            </a:r>
          </a:p>
        </p:txBody>
      </p:sp>
      <p:sp>
        <p:nvSpPr>
          <p:cNvPr id="4" name="Date Placeholder 3"/>
          <p:cNvSpPr>
            <a:spLocks noGrp="1"/>
          </p:cNvSpPr>
          <p:nvPr>
            <p:ph type="dt" sz="half" idx="10"/>
          </p:nvPr>
        </p:nvSpPr>
        <p:spPr/>
        <p:txBody>
          <a:bodyPr/>
          <a:lstStyle/>
          <a:p>
            <a:fld id="{200B263B-FED0-4A41-9ECA-5FC08A66125A}"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23</a:t>
            </a:fld>
            <a:endParaRPr lang="en-US"/>
          </a:p>
        </p:txBody>
      </p:sp>
      <p:pic>
        <p:nvPicPr>
          <p:cNvPr id="7" name="Picture 6"/>
          <p:cNvPicPr>
            <a:picLocks noChangeAspect="1"/>
          </p:cNvPicPr>
          <p:nvPr/>
        </p:nvPicPr>
        <p:blipFill rotWithShape="1">
          <a:blip r:embed="rId2"/>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4081741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753" y="1118113"/>
            <a:ext cx="11199949" cy="5457549"/>
          </a:xfrm>
          <a:solidFill>
            <a:schemeClr val="bg1"/>
          </a:solidFill>
          <a:ln>
            <a:solidFill>
              <a:schemeClr val="accent2"/>
            </a:solidFill>
          </a:ln>
        </p:spPr>
        <p:txBody>
          <a:bodyPr>
            <a:normAutofit/>
          </a:bodyPr>
          <a:lstStyle/>
          <a:p>
            <a:pPr>
              <a:buFont typeface="+mj-lt"/>
              <a:buAutoNum type="arabicPeriod" startAt="5"/>
            </a:pPr>
            <a:r>
              <a:rPr lang="en-US" sz="2400" dirty="0" smtClean="0"/>
              <a:t>Creativity </a:t>
            </a:r>
            <a:r>
              <a:rPr lang="en-US" sz="2400" dirty="0"/>
              <a:t>and innovation helps develop new ways of improving an existing product or service to optimize the business. </a:t>
            </a:r>
            <a:endParaRPr lang="en-US" sz="2400" dirty="0" smtClean="0"/>
          </a:p>
          <a:p>
            <a:pPr>
              <a:buFont typeface="+mj-lt"/>
              <a:buAutoNum type="arabicPeriod" startAt="5"/>
            </a:pPr>
            <a:r>
              <a:rPr lang="en-US" sz="2400" dirty="0" smtClean="0"/>
              <a:t>Creative </a:t>
            </a:r>
            <a:r>
              <a:rPr lang="en-US" sz="2400" dirty="0"/>
              <a:t>people would sometime able to connect dissimilar and unrelated subject and make successful entrepreneurial ideas. Interesting ideas could come from colliding different fields. </a:t>
            </a:r>
            <a:endParaRPr lang="en-US" sz="2400" dirty="0" smtClean="0"/>
          </a:p>
          <a:p>
            <a:pPr>
              <a:buFont typeface="+mj-lt"/>
              <a:buAutoNum type="arabicPeriod" startAt="5"/>
            </a:pPr>
            <a:r>
              <a:rPr lang="en-US" sz="2400" dirty="0" smtClean="0"/>
              <a:t>Creativity </a:t>
            </a:r>
            <a:r>
              <a:rPr lang="en-US" sz="2400" dirty="0"/>
              <a:t>is problem solving </a:t>
            </a:r>
            <a:r>
              <a:rPr lang="en-US" sz="2400" dirty="0" smtClean="0"/>
              <a:t>through </a:t>
            </a:r>
            <a:r>
              <a:rPr lang="en-US" sz="2400" dirty="0"/>
              <a:t>developing new strategies to keep the business running competitively, creative problem solving provides a competitive advantage that every business wants to achieve. The need for creative problem solving arises because more management needs critical insight to find a suitable and viable solution whenever it happens.</a:t>
            </a:r>
          </a:p>
        </p:txBody>
      </p:sp>
      <p:sp>
        <p:nvSpPr>
          <p:cNvPr id="4" name="Date Placeholder 3"/>
          <p:cNvSpPr>
            <a:spLocks noGrp="1"/>
          </p:cNvSpPr>
          <p:nvPr>
            <p:ph type="dt" sz="half" idx="10"/>
          </p:nvPr>
        </p:nvSpPr>
        <p:spPr/>
        <p:txBody>
          <a:bodyPr/>
          <a:lstStyle/>
          <a:p>
            <a:fld id="{4F1EFBAB-3995-443F-B98C-8DBA44C36A57}"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24</a:t>
            </a:fld>
            <a:endParaRPr lang="en-US"/>
          </a:p>
        </p:txBody>
      </p:sp>
      <p:sp>
        <p:nvSpPr>
          <p:cNvPr id="7" name="Title 1"/>
          <p:cNvSpPr txBox="1">
            <a:spLocks/>
          </p:cNvSpPr>
          <p:nvPr/>
        </p:nvSpPr>
        <p:spPr bwMode="gray">
          <a:xfrm>
            <a:off x="2663609" y="172628"/>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smtClean="0">
                <a:solidFill>
                  <a:schemeClr val="accent1"/>
                </a:solidFill>
              </a:rPr>
              <a:t>Roles of Creativity and Innovation in Entrepreneurship</a:t>
            </a:r>
            <a:endParaRPr lang="en-US" sz="2800" dirty="0">
              <a:solidFill>
                <a:schemeClr val="accent1"/>
              </a:solidFill>
            </a:endParaRPr>
          </a:p>
        </p:txBody>
      </p:sp>
      <p:pic>
        <p:nvPicPr>
          <p:cNvPr id="8" name="Picture 7"/>
          <p:cNvPicPr>
            <a:picLocks noChangeAspect="1"/>
          </p:cNvPicPr>
          <p:nvPr/>
        </p:nvPicPr>
        <p:blipFill rotWithShape="1">
          <a:blip r:embed="rId2"/>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21153477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609" y="172628"/>
            <a:ext cx="8761413" cy="374219"/>
          </a:xfrm>
        </p:spPr>
        <p:txBody>
          <a:bodyPr>
            <a:noAutofit/>
          </a:bodyPr>
          <a:lstStyle/>
          <a:p>
            <a:r>
              <a:rPr lang="en-US" sz="2800" dirty="0">
                <a:solidFill>
                  <a:schemeClr val="accent1"/>
                </a:solidFill>
              </a:rPr>
              <a:t>Strengthening the Creativity and Innovation in Entrepreneurship</a:t>
            </a:r>
          </a:p>
        </p:txBody>
      </p:sp>
      <p:sp>
        <p:nvSpPr>
          <p:cNvPr id="3" name="Content Placeholder 2"/>
          <p:cNvSpPr>
            <a:spLocks noGrp="1"/>
          </p:cNvSpPr>
          <p:nvPr>
            <p:ph idx="1"/>
          </p:nvPr>
        </p:nvSpPr>
        <p:spPr>
          <a:xfrm>
            <a:off x="277907" y="1241215"/>
            <a:ext cx="11743764" cy="5328422"/>
          </a:xfrm>
          <a:solidFill>
            <a:schemeClr val="bg1"/>
          </a:solidFill>
          <a:ln>
            <a:solidFill>
              <a:schemeClr val="accent2"/>
            </a:solidFill>
          </a:ln>
        </p:spPr>
        <p:txBody>
          <a:bodyPr>
            <a:normAutofit/>
          </a:bodyPr>
          <a:lstStyle/>
          <a:p>
            <a:r>
              <a:rPr lang="en-US" dirty="0" smtClean="0"/>
              <a:t>Creativity </a:t>
            </a:r>
            <a:r>
              <a:rPr lang="en-US" dirty="0"/>
              <a:t>and innovation are a recognized way for sure path to </a:t>
            </a:r>
            <a:r>
              <a:rPr lang="en-US" dirty="0" smtClean="0"/>
              <a:t>success and should </a:t>
            </a:r>
            <a:r>
              <a:rPr lang="en-US" dirty="0"/>
              <a:t>be one of the priorities and implemented optimally in the entrepreneurship. </a:t>
            </a:r>
            <a:endParaRPr lang="en-US" dirty="0" smtClean="0"/>
          </a:p>
          <a:p>
            <a:r>
              <a:rPr lang="en-US" b="1" dirty="0" smtClean="0"/>
              <a:t>Steps </a:t>
            </a:r>
            <a:r>
              <a:rPr lang="en-US" b="1" dirty="0"/>
              <a:t>to enhance the creativity and innovation in </a:t>
            </a:r>
            <a:r>
              <a:rPr lang="en-US" b="1" dirty="0" smtClean="0"/>
              <a:t>entrepreneurship include: </a:t>
            </a:r>
          </a:p>
          <a:p>
            <a:pPr marL="400050" indent="-400050">
              <a:buFont typeface="+mj-lt"/>
              <a:buAutoNum type="romanLcPeriod"/>
            </a:pPr>
            <a:r>
              <a:rPr lang="en-US" dirty="0" smtClean="0"/>
              <a:t>Innovation </a:t>
            </a:r>
            <a:r>
              <a:rPr lang="en-US" dirty="0"/>
              <a:t>requires a political economy of reform which not only need inputs and capacity. This requires the active participation in which to create a constituency for innovation where government, academia, industry and citizenry are all involves in the innovation movement</a:t>
            </a:r>
            <a:r>
              <a:rPr lang="en-US" dirty="0" smtClean="0"/>
              <a:t>.</a:t>
            </a:r>
          </a:p>
          <a:p>
            <a:pPr marL="400050" indent="-400050">
              <a:buFont typeface="+mj-lt"/>
              <a:buAutoNum type="romanLcPeriod"/>
            </a:pPr>
            <a:r>
              <a:rPr lang="en-US" dirty="0"/>
              <a:t>Government can drive innovation through appropriate programs and awareness. Entrepreneurship education should be one of the ways to strengthen the innovation, especially in young age. </a:t>
            </a:r>
          </a:p>
          <a:p>
            <a:pPr marL="400050" indent="-400050">
              <a:buFont typeface="+mj-lt"/>
              <a:buAutoNum type="romanLcPeriod"/>
            </a:pPr>
            <a:r>
              <a:rPr lang="en-US" dirty="0" smtClean="0"/>
              <a:t>The </a:t>
            </a:r>
            <a:r>
              <a:rPr lang="en-US" dirty="0"/>
              <a:t>active involvement of mass media, especially the increasing access to internet and Information and Communication Technologies (ICT) could be the channels to disseminate related information on creativity and innovation in entrepreneurship. </a:t>
            </a:r>
            <a:endParaRPr lang="en-US" dirty="0" smtClean="0"/>
          </a:p>
          <a:p>
            <a:pPr marL="400050" indent="-400050">
              <a:buFont typeface="+mj-lt"/>
              <a:buAutoNum type="romanLcPeriod"/>
            </a:pPr>
            <a:r>
              <a:rPr lang="en-US" dirty="0" smtClean="0"/>
              <a:t>Provide </a:t>
            </a:r>
            <a:r>
              <a:rPr lang="en-US" dirty="0"/>
              <a:t>resources for emerging venture. Authorities should involve and gives the opportunity for the emerging venture to occur and provide the facilities. </a:t>
            </a:r>
          </a:p>
          <a:p>
            <a:pPr marL="400050" indent="-400050">
              <a:buFont typeface="+mj-lt"/>
              <a:buAutoNum type="romanLcPeriod"/>
            </a:pPr>
            <a:r>
              <a:rPr lang="en-US" dirty="0" smtClean="0"/>
              <a:t>Encourage </a:t>
            </a:r>
            <a:r>
              <a:rPr lang="en-US" dirty="0"/>
              <a:t>industries bodies and chamber of commerce to take lead in driving greater collaboration between businesses and start-ups. </a:t>
            </a:r>
            <a:endParaRPr lang="en-US" dirty="0" smtClean="0"/>
          </a:p>
        </p:txBody>
      </p:sp>
      <p:sp>
        <p:nvSpPr>
          <p:cNvPr id="4" name="Date Placeholder 3"/>
          <p:cNvSpPr>
            <a:spLocks noGrp="1"/>
          </p:cNvSpPr>
          <p:nvPr>
            <p:ph type="dt" sz="half" idx="10"/>
          </p:nvPr>
        </p:nvSpPr>
        <p:spPr/>
        <p:txBody>
          <a:bodyPr/>
          <a:lstStyle/>
          <a:p>
            <a:fld id="{54BDEF39-809D-4907-88FE-6C1C33FC1A36}"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25</a:t>
            </a:fld>
            <a:endParaRPr lang="en-US"/>
          </a:p>
        </p:txBody>
      </p:sp>
      <p:pic>
        <p:nvPicPr>
          <p:cNvPr id="7" name="Picture 6"/>
          <p:cNvPicPr>
            <a:picLocks noChangeAspect="1"/>
          </p:cNvPicPr>
          <p:nvPr/>
        </p:nvPicPr>
        <p:blipFill rotWithShape="1">
          <a:blip r:embed="rId2"/>
          <a:srcRect l="5504" t="-2334" r="50294" b="-1"/>
          <a:stretch/>
        </p:blipFill>
        <p:spPr>
          <a:xfrm>
            <a:off x="-188368" y="-232267"/>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40102014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4310" y="-1"/>
            <a:ext cx="8761413" cy="641071"/>
          </a:xfrm>
        </p:spPr>
        <p:txBody>
          <a:bodyPr/>
          <a:lstStyle/>
          <a:p>
            <a:r>
              <a:rPr lang="en-US" sz="3200" dirty="0" smtClean="0">
                <a:solidFill>
                  <a:schemeClr val="accent1"/>
                </a:solidFill>
              </a:rPr>
              <a:t>CONCLUSION</a:t>
            </a:r>
            <a:endParaRPr lang="en-US" sz="3200" dirty="0">
              <a:solidFill>
                <a:schemeClr val="accent1"/>
              </a:solidFill>
            </a:endParaRPr>
          </a:p>
        </p:txBody>
      </p:sp>
      <p:sp>
        <p:nvSpPr>
          <p:cNvPr id="3" name="Content Placeholder 2"/>
          <p:cNvSpPr>
            <a:spLocks noGrp="1"/>
          </p:cNvSpPr>
          <p:nvPr>
            <p:ph idx="1"/>
          </p:nvPr>
        </p:nvSpPr>
        <p:spPr>
          <a:xfrm>
            <a:off x="497541" y="1118113"/>
            <a:ext cx="11146161" cy="5444051"/>
          </a:xfrm>
          <a:solidFill>
            <a:schemeClr val="bg1"/>
          </a:solidFill>
          <a:ln>
            <a:solidFill>
              <a:schemeClr val="accent2"/>
            </a:solidFill>
          </a:ln>
        </p:spPr>
        <p:txBody>
          <a:bodyPr>
            <a:noAutofit/>
          </a:bodyPr>
          <a:lstStyle/>
          <a:p>
            <a:r>
              <a:rPr lang="en-US" sz="2000" dirty="0"/>
              <a:t>Entrepreneurship is the medium that spurs the creativity and innovation. </a:t>
            </a:r>
            <a:endParaRPr lang="en-US" sz="2000" dirty="0" smtClean="0"/>
          </a:p>
          <a:p>
            <a:r>
              <a:rPr lang="en-US" sz="2000" dirty="0" smtClean="0"/>
              <a:t>Creativity </a:t>
            </a:r>
            <a:r>
              <a:rPr lang="en-US" sz="2000" dirty="0"/>
              <a:t>and innovation are the heart of the spirit of enterprise which means both are play a vital role to strive the successful and viable enterprise. </a:t>
            </a:r>
            <a:endParaRPr lang="en-US" sz="2000" dirty="0" smtClean="0"/>
          </a:p>
          <a:p>
            <a:r>
              <a:rPr lang="en-US" sz="2000" dirty="0" smtClean="0"/>
              <a:t>The </a:t>
            </a:r>
            <a:r>
              <a:rPr lang="en-US" sz="2000" dirty="0"/>
              <a:t>organization and market product need the touch of creativity and innovation in order to not leave behind especially in competitive market nowadays. </a:t>
            </a:r>
            <a:endParaRPr lang="en-US" sz="2000" dirty="0" smtClean="0"/>
          </a:p>
          <a:p>
            <a:r>
              <a:rPr lang="en-US" sz="2000" dirty="0" smtClean="0"/>
              <a:t>Organization </a:t>
            </a:r>
            <a:r>
              <a:rPr lang="en-US" sz="2000" dirty="0"/>
              <a:t>must nourish creativity and innovation in entrepreneurship for many reasons. There is no doubt that current economics are volatile and violent one. </a:t>
            </a:r>
            <a:endParaRPr lang="en-US" sz="2000" dirty="0" smtClean="0"/>
          </a:p>
          <a:p>
            <a:r>
              <a:rPr lang="en-US" sz="2000" dirty="0" smtClean="0"/>
              <a:t>Entrepreneurs </a:t>
            </a:r>
            <a:r>
              <a:rPr lang="en-US" sz="2000" dirty="0"/>
              <a:t>need to ensure the organization are continue to delight the customer, produce the product in accordance to requirement which is the purpose of every business. </a:t>
            </a:r>
            <a:endParaRPr lang="en-US" sz="2000" dirty="0" smtClean="0"/>
          </a:p>
          <a:p>
            <a:r>
              <a:rPr lang="en-US" sz="2000" dirty="0" smtClean="0"/>
              <a:t>Entrepreneurs </a:t>
            </a:r>
            <a:r>
              <a:rPr lang="en-US" sz="2000" dirty="0"/>
              <a:t>who embrace creativity and innovation in their business models, will be moving forward and be successful than entrepreneurs who remain with the traditional business model, which is only concerned with selling exclusively. </a:t>
            </a:r>
            <a:endParaRPr lang="en-US" sz="2000" dirty="0" smtClean="0"/>
          </a:p>
          <a:p>
            <a:r>
              <a:rPr lang="en-US" sz="2000" dirty="0" smtClean="0"/>
              <a:t>The </a:t>
            </a:r>
            <a:r>
              <a:rPr lang="en-US" sz="2000" dirty="0"/>
              <a:t>value of creativity and innovation generating the new ideas in business attract more benefits and value added towards the companies. </a:t>
            </a:r>
          </a:p>
        </p:txBody>
      </p:sp>
      <p:sp>
        <p:nvSpPr>
          <p:cNvPr id="4" name="Date Placeholder 3"/>
          <p:cNvSpPr>
            <a:spLocks noGrp="1"/>
          </p:cNvSpPr>
          <p:nvPr>
            <p:ph type="dt" sz="half" idx="10"/>
          </p:nvPr>
        </p:nvSpPr>
        <p:spPr/>
        <p:txBody>
          <a:bodyPr/>
          <a:lstStyle/>
          <a:p>
            <a:fld id="{9E88554A-3B0A-4638-81F0-7519D827CF45}"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26</a:t>
            </a:fld>
            <a:endParaRPr lang="en-US"/>
          </a:p>
        </p:txBody>
      </p:sp>
      <p:pic>
        <p:nvPicPr>
          <p:cNvPr id="7" name="Picture 6"/>
          <p:cNvPicPr>
            <a:picLocks noChangeAspect="1"/>
          </p:cNvPicPr>
          <p:nvPr/>
        </p:nvPicPr>
        <p:blipFill rotWithShape="1">
          <a:blip r:embed="rId2"/>
          <a:srcRect l="5504" t="-2334" r="50294" b="-1"/>
          <a:stretch/>
        </p:blipFill>
        <p:spPr>
          <a:xfrm>
            <a:off x="0" y="-65893"/>
            <a:ext cx="2663609" cy="1184007"/>
          </a:xfrm>
          <a:prstGeom prst="rect">
            <a:avLst/>
          </a:prstGeom>
          <a:ln w="19050">
            <a:solidFill>
              <a:schemeClr val="accent2">
                <a:lumMod val="50000"/>
              </a:schemeClr>
            </a:solidFill>
          </a:ln>
        </p:spPr>
      </p:pic>
    </p:spTree>
    <p:extLst>
      <p:ext uri="{BB962C8B-B14F-4D97-AF65-F5344CB8AC3E}">
        <p14:creationId xmlns:p14="http://schemas.microsoft.com/office/powerpoint/2010/main" val="39788920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0368" y="133113"/>
            <a:ext cx="9001125" cy="582930"/>
          </a:xfrm>
        </p:spPr>
        <p:txBody>
          <a:bodyPr>
            <a:normAutofit fontScale="90000"/>
          </a:bodyPr>
          <a:lstStyle/>
          <a:p>
            <a:pPr algn="l"/>
            <a:r>
              <a:rPr lang="en-US" sz="3200" b="1" i="1" dirty="0"/>
              <a:t>Q &amp; A</a:t>
            </a:r>
            <a:br>
              <a:rPr lang="en-US" sz="3200" b="1" i="1" dirty="0"/>
            </a:br>
            <a:endParaRPr lang="en-US" sz="3200" b="1" dirty="0"/>
          </a:p>
        </p:txBody>
      </p:sp>
      <p:sp>
        <p:nvSpPr>
          <p:cNvPr id="10" name="Content Placeholder 9"/>
          <p:cNvSpPr>
            <a:spLocks noGrp="1"/>
          </p:cNvSpPr>
          <p:nvPr>
            <p:ph sz="half" idx="1"/>
          </p:nvPr>
        </p:nvSpPr>
        <p:spPr>
          <a:xfrm>
            <a:off x="609600" y="1184275"/>
            <a:ext cx="10972800" cy="4953000"/>
          </a:xfrm>
          <a:ln w="12700" cmpd="sng">
            <a:solidFill>
              <a:srgbClr val="92D050"/>
            </a:solidFill>
            <a:prstDash val="solid"/>
          </a:ln>
        </p:spPr>
        <p:txBody>
          <a:bodyPr>
            <a:normAutofit lnSpcReduction="10000"/>
          </a:bodyPr>
          <a:lstStyle/>
          <a:p>
            <a:pPr algn="ctr"/>
            <a:endParaRPr lang="en-US" sz="2800" dirty="0"/>
          </a:p>
          <a:p>
            <a:pPr marL="0" indent="0" algn="ctr">
              <a:buNone/>
            </a:pPr>
            <a:r>
              <a:rPr lang="en-US" sz="2800" i="1" dirty="0"/>
              <a:t>Thank You.</a:t>
            </a:r>
          </a:p>
          <a:p>
            <a:pPr algn="ctr"/>
            <a:endParaRPr lang="en-US" sz="2800" dirty="0"/>
          </a:p>
          <a:p>
            <a:pPr algn="ctr"/>
            <a:endParaRPr lang="en-US" sz="2800" dirty="0"/>
          </a:p>
          <a:p>
            <a:pPr marL="0" indent="0" algn="ctr">
              <a:buNone/>
            </a:pPr>
            <a:r>
              <a:rPr lang="en-US" i="1" dirty="0" smtClean="0">
                <a:hlinkClick r:id="rId2"/>
              </a:rPr>
              <a:t>VIDEO:  https</a:t>
            </a:r>
            <a:r>
              <a:rPr lang="en-US" i="1" dirty="0">
                <a:hlinkClick r:id="rId2"/>
              </a:rPr>
              <a:t>://</a:t>
            </a:r>
            <a:r>
              <a:rPr lang="en-US" i="1" dirty="0" smtClean="0">
                <a:hlinkClick r:id="rId2"/>
              </a:rPr>
              <a:t>www.youtube.com/watch?v=bPMyUQoGJms</a:t>
            </a:r>
            <a:endParaRPr lang="en-US" i="1" dirty="0" smtClean="0"/>
          </a:p>
          <a:p>
            <a:pPr marL="0" indent="0" algn="ctr">
              <a:buNone/>
            </a:pPr>
            <a:endParaRPr lang="en-US" i="1" dirty="0" smtClean="0"/>
          </a:p>
          <a:p>
            <a:pPr marL="0" indent="0" algn="ctr">
              <a:buNone/>
            </a:pPr>
            <a:r>
              <a:rPr lang="en-US" i="1" dirty="0" smtClean="0"/>
              <a:t>I invite you to study the notes attached and the additional resources.</a:t>
            </a:r>
          </a:p>
          <a:p>
            <a:pPr marL="0" indent="0" algn="ctr">
              <a:buNone/>
            </a:pPr>
            <a:endParaRPr lang="en-US" sz="2800" i="1" dirty="0"/>
          </a:p>
          <a:p>
            <a:pPr marL="0" indent="0" algn="ctr">
              <a:buNone/>
            </a:pPr>
            <a:r>
              <a:rPr lang="en-US" sz="2800" i="1" dirty="0"/>
              <a:t>Stay Safe.</a:t>
            </a:r>
          </a:p>
          <a:p>
            <a:pPr marL="0" indent="0" algn="ctr">
              <a:buNone/>
            </a:pPr>
            <a:r>
              <a:rPr lang="en-US" sz="2800" i="1" dirty="0"/>
              <a:t>God Bless You</a:t>
            </a:r>
          </a:p>
        </p:txBody>
      </p:sp>
      <p:sp>
        <p:nvSpPr>
          <p:cNvPr id="4" name="Date Placeholder 3"/>
          <p:cNvSpPr>
            <a:spLocks noGrp="1"/>
          </p:cNvSpPr>
          <p:nvPr>
            <p:ph type="dt" sz="half" idx="10"/>
          </p:nvPr>
        </p:nvSpPr>
        <p:spPr/>
        <p:txBody>
          <a:bodyPr/>
          <a:lstStyle/>
          <a:p>
            <a:fld id="{8D76E1E0-A8B3-4FF4-8983-F36D5F55451D}" type="datetime1">
              <a:rPr lang="en-US" smtClean="0"/>
              <a:t>1/14/2026</a:t>
            </a:fld>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27</a:t>
            </a:fld>
            <a:endParaRPr lang="en-US"/>
          </a:p>
        </p:txBody>
      </p:sp>
      <p:pic>
        <p:nvPicPr>
          <p:cNvPr id="9" name="Picture 8"/>
          <p:cNvPicPr>
            <a:picLocks noChangeAspect="1"/>
          </p:cNvPicPr>
          <p:nvPr/>
        </p:nvPicPr>
        <p:blipFill rotWithShape="1">
          <a:blip r:embed="rId3"/>
          <a:srcRect l="5504" t="-2334" r="50294" b="-1"/>
          <a:stretch/>
        </p:blipFill>
        <p:spPr>
          <a:xfrm>
            <a:off x="0" y="0"/>
            <a:ext cx="2663609" cy="1184007"/>
          </a:xfrm>
          <a:prstGeom prst="rect">
            <a:avLst/>
          </a:prstGeom>
          <a:ln w="28575">
            <a:solidFill>
              <a:schemeClr val="accent2">
                <a:lumMod val="75000"/>
              </a:schemeClr>
            </a:solidFill>
          </a:ln>
        </p:spPr>
      </p:pic>
    </p:spTree>
    <p:extLst>
      <p:ext uri="{BB962C8B-B14F-4D97-AF65-F5344CB8AC3E}">
        <p14:creationId xmlns:p14="http://schemas.microsoft.com/office/powerpoint/2010/main" val="439799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1775</TotalTime>
  <Words>5755</Words>
  <Application>Microsoft Office PowerPoint</Application>
  <PresentationFormat>Widescreen</PresentationFormat>
  <Paragraphs>409</Paragraphs>
  <Slides>27</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Trebuchet MS</vt:lpstr>
      <vt:lpstr>Wingdings</vt:lpstr>
      <vt:lpstr>Wingdings 3</vt:lpstr>
      <vt:lpstr>Facet</vt:lpstr>
      <vt:lpstr>SCHOOL OF BUSINESS &amp; ECONOMICS BCU 410: ENTREPRENEURSHIP AND INNOVATION</vt:lpstr>
      <vt:lpstr>PICTURE OF THE DAY</vt:lpstr>
      <vt:lpstr>COURSE OVERVIEW</vt:lpstr>
      <vt:lpstr>INTRODUCTION</vt:lpstr>
      <vt:lpstr>1. INTRODUCTION</vt:lpstr>
      <vt:lpstr>DEFINITION CONT’D </vt:lpstr>
      <vt:lpstr>DEFINITION CONT’D</vt:lpstr>
      <vt:lpstr>DEFINITION CONT’D</vt:lpstr>
      <vt:lpstr>2. BRIEF HISTORICAL PERSPECTIVES OF  MODERN ENTREPRENEURSHIP</vt:lpstr>
      <vt:lpstr>HISTORY OF ENTREPRENEURSHIP</vt:lpstr>
      <vt:lpstr>HISTORY OF ENTREPRENEURSHIP</vt:lpstr>
      <vt:lpstr> HISTORY OF ENTREPRENEURSHIP</vt:lpstr>
      <vt:lpstr>3. KEY THEORIES OF ENTREPRENEURSHIP</vt:lpstr>
      <vt:lpstr>KEY THEORIES OF ENTREPRENEURSHIP</vt:lpstr>
      <vt:lpstr>KEY THEORIES OF ENTREPRENEURSHIP </vt:lpstr>
      <vt:lpstr>ENTREPRENEURIAL CHARACTERISTICS</vt:lpstr>
      <vt:lpstr>4. CREATIVITY AND INNOVATION IN ENTREPRENEURSHIP</vt:lpstr>
      <vt:lpstr>4. CREATIVITY AND INNOVATION IN ENTREPRENEURSHIP</vt:lpstr>
      <vt:lpstr>5. THE CREATIVE PROCESS</vt:lpstr>
      <vt:lpstr>5. THE CREATIVE PROCESS</vt:lpstr>
      <vt:lpstr>PowerPoint Presentation</vt:lpstr>
      <vt:lpstr>6. INNOVATION IN ENTREPRENEURSHIP</vt:lpstr>
      <vt:lpstr>Roles of Creativity and Innovation in Entrepreneurship</vt:lpstr>
      <vt:lpstr>PowerPoint Presentation</vt:lpstr>
      <vt:lpstr>Strengthening the Creativity and Innovation in Entrepreneurship</vt:lpstr>
      <vt:lpstr>CONCLUSION</vt:lpstr>
      <vt:lpstr>Q &amp; A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BUSINESS BBM 422: STRATEGIC MANAGEMENT</dc:title>
  <dc:creator>PKibas</dc:creator>
  <cp:lastModifiedBy>HMC</cp:lastModifiedBy>
  <cp:revision>73</cp:revision>
  <dcterms:created xsi:type="dcterms:W3CDTF">2020-04-28T10:38:00Z</dcterms:created>
  <dcterms:modified xsi:type="dcterms:W3CDTF">2026-01-14T05:02:29Z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1033-11.2.0.9255</vt:lpwstr>
  </property>
</Properties>
</file>